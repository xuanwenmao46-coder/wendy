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512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120000" cy="10692000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880600"/>
            <a:ext cx="15120000" cy="106920"/>
          </a:xfrm>
          <a:prstGeom prst="rect">
            <a:avLst/>
          </a:prstGeom>
          <a:solidFill>
            <a:srgbClr val="C8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0000" y="1800000"/>
            <a:ext cx="1080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0DCA0"/>
                </a:solidFill>
                <a:latin typeface="SimHei"/>
              </a:rPr>
              <a:t>字体编排设计手册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0000" y="3600000"/>
            <a:ext cx="108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B4B4B4"/>
                </a:solidFill>
                <a:latin typeface="Arial"/>
              </a:rPr>
              <a:t>Typography &amp; Type Design Manual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0000" y="4680000"/>
            <a:ext cx="10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SimSun"/>
              </a:rPr>
              <a:t>色彩系统 · 拉丁字体 · 汉字编排 · 字号规范 · 行距字距实验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" y="6840000"/>
            <a:ext cx="72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6464"/>
                </a:solidFill>
                <a:latin typeface="SimSun"/>
              </a:rPr>
              <a:t>公共场域与数字叙事（二）  |  设计编排工作手册  |  2025-2026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120000" cy="10692000"/>
          </a:xfrm>
          <a:prstGeom prst="rect">
            <a:avLst/>
          </a:prstGeom>
          <a:solidFill>
            <a:srgbClr val="F8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120000" cy="648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72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DC96"/>
                </a:solidFill>
                <a:latin typeface="SimHei"/>
              </a:rPr>
              <a:t>01  色相环 · 纯色系 CMYK 色值表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432000" y="900000"/>
            <a:ext cx="1260000" cy="1260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2000" y="2196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82828"/>
                </a:solidFill>
                <a:latin typeface="SimHei"/>
              </a:rPr>
              <a:t>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2358000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05050"/>
                </a:solidFill>
                <a:latin typeface="Arial"/>
              </a:rPr>
              <a:t>C0 M100 Y100 K0</a:t>
            </a:r>
          </a:p>
        </p:txBody>
      </p:sp>
      <p:sp>
        <p:nvSpPr>
          <p:cNvPr id="8" name="Rectangle 7"/>
          <p:cNvSpPr/>
          <p:nvPr/>
        </p:nvSpPr>
        <p:spPr>
          <a:xfrm>
            <a:off x="1782000" y="900000"/>
            <a:ext cx="1260000" cy="1260000"/>
          </a:xfrm>
          <a:prstGeom prst="rect">
            <a:avLst/>
          </a:prstGeom>
          <a:solidFill>
            <a:srgbClr val="FF4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82000" y="2196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82828"/>
                </a:solidFill>
                <a:latin typeface="SimHei"/>
              </a:rPr>
              <a:t>红橙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2000" y="2358000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05050"/>
                </a:solidFill>
                <a:latin typeface="Arial"/>
              </a:rPr>
              <a:t>C0 M70 Y100 K0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32000" y="900000"/>
            <a:ext cx="1260000" cy="1260000"/>
          </a:xfrm>
          <a:prstGeom prst="rect">
            <a:avLst/>
          </a:prstGeom>
          <a:solidFill>
            <a:srgbClr val="FF7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32000" y="2196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82828"/>
                </a:solidFill>
                <a:latin typeface="SimHei"/>
              </a:rPr>
              <a:t>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2000" y="2358000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05050"/>
                </a:solidFill>
                <a:latin typeface="Arial"/>
              </a:rPr>
              <a:t>C0 M50 Y100 K0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82000" y="900000"/>
            <a:ext cx="1260000" cy="1260000"/>
          </a:xfrm>
          <a:prstGeom prst="rect">
            <a:avLst/>
          </a:prstGeom>
          <a:solidFill>
            <a:srgbClr val="FFB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2000" y="2196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82828"/>
                </a:solidFill>
                <a:latin typeface="SimHei"/>
              </a:rPr>
              <a:t>黄橙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2000" y="2358000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05050"/>
                </a:solidFill>
                <a:latin typeface="Arial"/>
              </a:rPr>
              <a:t>C0 M30 Y100 K0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32000" y="900000"/>
            <a:ext cx="1260000" cy="126000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32000" y="2196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82828"/>
                </a:solidFill>
                <a:latin typeface="SimHei"/>
              </a:rPr>
              <a:t>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32000" y="2358000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05050"/>
                </a:solidFill>
                <a:latin typeface="Arial"/>
              </a:rPr>
              <a:t>C0 M0 Y100 K0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82000" y="900000"/>
            <a:ext cx="1260000" cy="1260000"/>
          </a:xfrm>
          <a:prstGeom prst="rect">
            <a:avLst/>
          </a:prstGeom>
          <a:solidFill>
            <a:srgbClr val="99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82000" y="2196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82828"/>
                </a:solidFill>
                <a:latin typeface="SimHei"/>
              </a:rPr>
              <a:t>黄绿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82000" y="2358000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05050"/>
                </a:solidFill>
                <a:latin typeface="Arial"/>
              </a:rPr>
              <a:t>C40 M0 Y100 K0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2000" y="2880000"/>
            <a:ext cx="1260000" cy="1260000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2000" y="4176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82828"/>
                </a:solidFill>
                <a:latin typeface="SimHei"/>
              </a:rPr>
              <a:t>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000" y="4338000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05050"/>
                </a:solidFill>
                <a:latin typeface="Arial"/>
              </a:rPr>
              <a:t>C100 M0 Y100 K0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82000" y="2880000"/>
            <a:ext cx="1260000" cy="1260000"/>
          </a:xfrm>
          <a:prstGeom prst="rect">
            <a:avLst/>
          </a:prstGeom>
          <a:solidFill>
            <a:srgbClr val="00FF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782000" y="4176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82828"/>
                </a:solidFill>
                <a:latin typeface="SimHei"/>
              </a:rPr>
              <a:t>蓝绿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2000" y="4338000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05050"/>
                </a:solidFill>
                <a:latin typeface="Arial"/>
              </a:rPr>
              <a:t>C100 M0 Y40 K0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32000" y="2880000"/>
            <a:ext cx="1260000" cy="126000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32000" y="4176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82828"/>
                </a:solidFill>
                <a:latin typeface="SimHei"/>
              </a:rPr>
              <a:t>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32000" y="4338000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05050"/>
                </a:solidFill>
                <a:latin typeface="Arial"/>
              </a:rPr>
              <a:t>C100 M60 Y0 K0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82000" y="2880000"/>
            <a:ext cx="1260000" cy="1260000"/>
          </a:xfrm>
          <a:prstGeom prst="rect">
            <a:avLst/>
          </a:prstGeom>
          <a:solidFill>
            <a:srgbClr val="323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82000" y="4176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82828"/>
                </a:solidFill>
                <a:latin typeface="SimHei"/>
              </a:rPr>
              <a:t>蓝紫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2000" y="4338000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05050"/>
                </a:solidFill>
                <a:latin typeface="Arial"/>
              </a:rPr>
              <a:t>C80 M80 Y0 K0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32000" y="2880000"/>
            <a:ext cx="1260000" cy="1260000"/>
          </a:xfrm>
          <a:prstGeom prst="rect">
            <a:avLst/>
          </a:prstGeom>
          <a:solidFill>
            <a:srgbClr val="66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32000" y="4176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82828"/>
                </a:solidFill>
                <a:latin typeface="SimHei"/>
              </a:rPr>
              <a:t>紫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32000" y="4338000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05050"/>
                </a:solidFill>
                <a:latin typeface="Arial"/>
              </a:rPr>
              <a:t>C60 M100 Y0 K0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82000" y="2880000"/>
            <a:ext cx="1260000" cy="1260000"/>
          </a:xfrm>
          <a:prstGeom prst="rect">
            <a:avLst/>
          </a:prstGeom>
          <a:solidFill>
            <a:srgbClr val="CC00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82000" y="4176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82828"/>
                </a:solidFill>
                <a:latin typeface="SimHei"/>
              </a:rPr>
              <a:t>红紫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82000" y="4338000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05050"/>
                </a:solidFill>
                <a:latin typeface="Arial"/>
              </a:rPr>
              <a:t>C20 M100 Y20 K0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0000" y="9540000"/>
            <a:ext cx="144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878"/>
                </a:solidFill>
                <a:latin typeface="SimSun"/>
              </a:rPr>
              <a:t>纯色色相环 / Pure Hue Color Wheel  ·  基于印刷四色CMYK标准色值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120000" cy="10692000"/>
          </a:xfrm>
          <a:prstGeom prst="rect">
            <a:avLst/>
          </a:prstGeom>
          <a:solidFill>
            <a:srgbClr val="F8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120000" cy="648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1296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DC96"/>
                </a:solidFill>
                <a:latin typeface="SimHei"/>
              </a:rPr>
              <a:t>02  色相环 · 纯色混白（淡色调 Tint）CMYK 色值表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432000" y="900000"/>
            <a:ext cx="1260000" cy="420000"/>
          </a:xfrm>
          <a:prstGeom prst="rect">
            <a:avLst/>
          </a:prstGeom>
          <a:solidFill>
            <a:srgbClr val="FF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2000" y="1320000"/>
            <a:ext cx="1260000" cy="420000"/>
          </a:xfrm>
          <a:prstGeom prst="rect">
            <a:avLst/>
          </a:prstGeom>
          <a:solidFill>
            <a:srgbClr val="F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2000" y="1740000"/>
            <a:ext cx="1260000" cy="420000"/>
          </a:xfrm>
          <a:prstGeom prst="rect">
            <a:avLst/>
          </a:prstGeom>
          <a:solidFill>
            <a:srgbClr val="FF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2000" y="2196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82828"/>
                </a:solidFill>
                <a:latin typeface="SimHei"/>
              </a:rPr>
              <a:t>浅红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2358000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05050"/>
                </a:solidFill>
                <a:latin typeface="Arial"/>
              </a:rPr>
              <a:t>C0 M25 Y25 K0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82000" y="900000"/>
            <a:ext cx="1260000" cy="420000"/>
          </a:xfrm>
          <a:prstGeom prst="rect">
            <a:avLst/>
          </a:prstGeom>
          <a:solidFill>
            <a:srgbClr val="FFE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82000" y="1320000"/>
            <a:ext cx="1260000" cy="420000"/>
          </a:xfrm>
          <a:prstGeom prst="rect">
            <a:avLst/>
          </a:prstGeom>
          <a:solidFill>
            <a:srgbClr val="FFD3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82000" y="1740000"/>
            <a:ext cx="1260000" cy="420000"/>
          </a:xfrm>
          <a:prstGeom prst="rect">
            <a:avLst/>
          </a:prstGeom>
          <a:solidFill>
            <a:srgbClr val="FFB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82000" y="2196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82828"/>
                </a:solidFill>
                <a:latin typeface="SimHei"/>
              </a:rPr>
              <a:t>浅红橙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2000" y="2358000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05050"/>
                </a:solidFill>
                <a:latin typeface="Arial"/>
              </a:rPr>
              <a:t>C0 M17 Y25 K0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32000" y="900000"/>
            <a:ext cx="1260000" cy="420000"/>
          </a:xfrm>
          <a:prstGeom prst="rect">
            <a:avLst/>
          </a:prstGeom>
          <a:solidFill>
            <a:srgbClr val="FFE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132000" y="1320000"/>
            <a:ext cx="1260000" cy="420000"/>
          </a:xfrm>
          <a:prstGeom prst="rect">
            <a:avLst/>
          </a:prstGeom>
          <a:solidFill>
            <a:srgbClr val="FFE0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132000" y="1740000"/>
            <a:ext cx="1260000" cy="420000"/>
          </a:xfrm>
          <a:prstGeom prst="rect">
            <a:avLst/>
          </a:prstGeom>
          <a:solidFill>
            <a:srgbClr val="FFD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32000" y="2196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82828"/>
                </a:solidFill>
                <a:latin typeface="SimHei"/>
              </a:rPr>
              <a:t>浅橙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32000" y="2358000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05050"/>
                </a:solidFill>
                <a:latin typeface="Arial"/>
              </a:rPr>
              <a:t>C0 M12 Y25 K0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82000" y="900000"/>
            <a:ext cx="1260000" cy="420000"/>
          </a:xfrm>
          <a:prstGeom prst="rect">
            <a:avLst/>
          </a:prstGeom>
          <a:solidFill>
            <a:srgbClr val="FFF7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482000" y="1320000"/>
            <a:ext cx="1260000" cy="420000"/>
          </a:xfrm>
          <a:prstGeom prst="rect">
            <a:avLst/>
          </a:prstGeom>
          <a:solidFill>
            <a:srgbClr val="FFED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82000" y="1740000"/>
            <a:ext cx="1260000" cy="420000"/>
          </a:xfrm>
          <a:prstGeom prst="rect">
            <a:avLst/>
          </a:prstGeom>
          <a:solidFill>
            <a:srgbClr val="FFE2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2000" y="2196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82828"/>
                </a:solidFill>
                <a:latin typeface="SimHei"/>
              </a:rPr>
              <a:t>浅黄橙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2000" y="2358000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05050"/>
                </a:solidFill>
                <a:latin typeface="Arial"/>
              </a:rPr>
              <a:t>C0 M7 Y25 K0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32000" y="900000"/>
            <a:ext cx="1260000" cy="420000"/>
          </a:xfrm>
          <a:prstGeom prst="rect">
            <a:avLst/>
          </a:prstGeom>
          <a:solidFill>
            <a:srgbClr val="FFF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32000" y="1320000"/>
            <a:ext cx="1260000" cy="420000"/>
          </a:xfrm>
          <a:prstGeom prst="rect">
            <a:avLst/>
          </a:prstGeom>
          <a:solidFill>
            <a:srgbClr val="FFF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832000" y="1740000"/>
            <a:ext cx="1260000" cy="420000"/>
          </a:xfrm>
          <a:prstGeom prst="rect">
            <a:avLst/>
          </a:prstGeom>
          <a:solidFill>
            <a:srgbClr val="FFF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32000" y="2196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82828"/>
                </a:solidFill>
                <a:latin typeface="SimHei"/>
              </a:rPr>
              <a:t>浅黄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32000" y="2358000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05050"/>
                </a:solidFill>
                <a:latin typeface="Arial"/>
              </a:rPr>
              <a:t>C0 M0 Y25 K0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82000" y="900000"/>
            <a:ext cx="1260000" cy="420000"/>
          </a:xfrm>
          <a:prstGeom prst="rect">
            <a:avLst/>
          </a:prstGeom>
          <a:solidFill>
            <a:srgbClr val="F2F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182000" y="1320000"/>
            <a:ext cx="1260000" cy="420000"/>
          </a:xfrm>
          <a:prstGeom prst="rect">
            <a:avLst/>
          </a:prstGeom>
          <a:solidFill>
            <a:srgbClr val="E5F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182000" y="1740000"/>
            <a:ext cx="1260000" cy="420000"/>
          </a:xfrm>
          <a:prstGeom prst="rect">
            <a:avLst/>
          </a:prstGeom>
          <a:solidFill>
            <a:srgbClr val="D8F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82000" y="2196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82828"/>
                </a:solidFill>
                <a:latin typeface="SimHei"/>
              </a:rPr>
              <a:t>浅黄绿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82000" y="2358000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05050"/>
                </a:solidFill>
                <a:latin typeface="Arial"/>
              </a:rPr>
              <a:t>C10 M0 Y25 K0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2000" y="2880000"/>
            <a:ext cx="1260000" cy="420000"/>
          </a:xfrm>
          <a:prstGeom prst="rect">
            <a:avLst/>
          </a:prstGeom>
          <a:solidFill>
            <a:srgbClr val="E0F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2000" y="3300000"/>
            <a:ext cx="1260000" cy="420000"/>
          </a:xfrm>
          <a:prstGeom prst="rect">
            <a:avLst/>
          </a:prstGeom>
          <a:solidFill>
            <a:srgbClr val="BFF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2000" y="3720000"/>
            <a:ext cx="1260000" cy="420000"/>
          </a:xfrm>
          <a:prstGeom prst="rect">
            <a:avLst/>
          </a:prstGeom>
          <a:solidFill>
            <a:srgbClr val="A0F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2000" y="4176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82828"/>
                </a:solidFill>
                <a:latin typeface="SimHei"/>
              </a:rPr>
              <a:t>浅绿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2000" y="4338000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05050"/>
                </a:solidFill>
                <a:latin typeface="Arial"/>
              </a:rPr>
              <a:t>C25 M0 Y25 K0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782000" y="2880000"/>
            <a:ext cx="1260000" cy="420000"/>
          </a:xfrm>
          <a:prstGeom prst="rect">
            <a:avLst/>
          </a:prstGeom>
          <a:solidFill>
            <a:srgbClr val="E0FF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782000" y="3300000"/>
            <a:ext cx="1260000" cy="420000"/>
          </a:xfrm>
          <a:prstGeom prst="rect">
            <a:avLst/>
          </a:prstGeom>
          <a:solidFill>
            <a:srgbClr val="BFF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782000" y="3720000"/>
            <a:ext cx="1260000" cy="420000"/>
          </a:xfrm>
          <a:prstGeom prst="rect">
            <a:avLst/>
          </a:prstGeom>
          <a:solidFill>
            <a:srgbClr val="A0F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782000" y="4176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82828"/>
                </a:solidFill>
                <a:latin typeface="SimHei"/>
              </a:rPr>
              <a:t>浅蓝绿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82000" y="4338000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05050"/>
                </a:solidFill>
                <a:latin typeface="Arial"/>
              </a:rPr>
              <a:t>C25 M0 Y10 K0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32000" y="2880000"/>
            <a:ext cx="1260000" cy="420000"/>
          </a:xfrm>
          <a:prstGeom prst="rect">
            <a:avLst/>
          </a:prstGeom>
          <a:solidFill>
            <a:srgbClr val="E0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132000" y="3300000"/>
            <a:ext cx="1260000" cy="420000"/>
          </a:xfrm>
          <a:prstGeom prst="rect">
            <a:avLst/>
          </a:prstGeom>
          <a:solidFill>
            <a:srgbClr val="BF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132000" y="3720000"/>
            <a:ext cx="1260000" cy="420000"/>
          </a:xfrm>
          <a:prstGeom prst="rect">
            <a:avLst/>
          </a:prstGeom>
          <a:solidFill>
            <a:srgbClr val="A0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132000" y="4176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82828"/>
                </a:solidFill>
                <a:latin typeface="SimHei"/>
              </a:rPr>
              <a:t>浅蓝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32000" y="4338000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05050"/>
                </a:solidFill>
                <a:latin typeface="Arial"/>
              </a:rPr>
              <a:t>C25 M15 Y0 K0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82000" y="2880000"/>
            <a:ext cx="1260000" cy="420000"/>
          </a:xfrm>
          <a:prstGeom prst="rect">
            <a:avLst/>
          </a:prstGeom>
          <a:solidFill>
            <a:srgbClr val="E5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482000" y="3300000"/>
            <a:ext cx="1260000" cy="420000"/>
          </a:xfrm>
          <a:prstGeom prst="rect">
            <a:avLst/>
          </a:prstGeom>
          <a:solidFill>
            <a:srgbClr val="CCC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482000" y="3720000"/>
            <a:ext cx="1260000" cy="420000"/>
          </a:xfrm>
          <a:prstGeom prst="rect">
            <a:avLst/>
          </a:prstGeom>
          <a:solidFill>
            <a:srgbClr val="B2B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482000" y="4176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82828"/>
                </a:solidFill>
                <a:latin typeface="SimHei"/>
              </a:rPr>
              <a:t>浅蓝紫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82000" y="4338000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05050"/>
                </a:solidFill>
                <a:latin typeface="Arial"/>
              </a:rPr>
              <a:t>C20 M20 Y0 K0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832000" y="2880000"/>
            <a:ext cx="1260000" cy="420000"/>
          </a:xfrm>
          <a:prstGeom prst="rect">
            <a:avLst/>
          </a:prstGeom>
          <a:solidFill>
            <a:srgbClr val="ED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832000" y="3300000"/>
            <a:ext cx="1260000" cy="420000"/>
          </a:xfrm>
          <a:prstGeom prst="rect">
            <a:avLst/>
          </a:prstGeom>
          <a:solidFill>
            <a:srgbClr val="D8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832000" y="3720000"/>
            <a:ext cx="1260000" cy="420000"/>
          </a:xfrm>
          <a:prstGeom prst="rect">
            <a:avLst/>
          </a:prstGeom>
          <a:solidFill>
            <a:srgbClr val="C6A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832000" y="4176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82828"/>
                </a:solidFill>
                <a:latin typeface="SimHei"/>
              </a:rPr>
              <a:t>浅紫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832000" y="4338000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05050"/>
                </a:solidFill>
                <a:latin typeface="Arial"/>
              </a:rPr>
              <a:t>C15 M25 Y0 K0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182000" y="2880000"/>
            <a:ext cx="1260000" cy="420000"/>
          </a:xfrm>
          <a:prstGeom prst="rect">
            <a:avLst/>
          </a:prstGeom>
          <a:solidFill>
            <a:srgbClr val="F9E0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182000" y="3300000"/>
            <a:ext cx="1260000" cy="420000"/>
          </a:xfrm>
          <a:prstGeom prst="rect">
            <a:avLst/>
          </a:prstGeom>
          <a:solidFill>
            <a:srgbClr val="F2BF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182000" y="3720000"/>
            <a:ext cx="1260000" cy="420000"/>
          </a:xfrm>
          <a:prstGeom prst="rect">
            <a:avLst/>
          </a:prstGeom>
          <a:solidFill>
            <a:srgbClr val="EDA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82000" y="4176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82828"/>
                </a:solidFill>
                <a:latin typeface="SimHei"/>
              </a:rPr>
              <a:t>浅红紫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182000" y="4338000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05050"/>
                </a:solidFill>
                <a:latin typeface="Arial"/>
              </a:rPr>
              <a:t>C5 M25 Y5 K0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0000" y="9540000"/>
            <a:ext cx="144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878"/>
                </a:solidFill>
                <a:latin typeface="SimSun"/>
              </a:rPr>
              <a:t>混白淡色调 / Tint  ·  纯色+白色混合（25% / 50% / 75%渐进）·  CMYK印刷参考值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120000" cy="10692000"/>
          </a:xfrm>
          <a:prstGeom prst="rect">
            <a:avLst/>
          </a:prstGeom>
          <a:solidFill>
            <a:srgbClr val="F8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120000" cy="648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1296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DC96"/>
                </a:solidFill>
                <a:latin typeface="SimHei"/>
              </a:rPr>
              <a:t>03  色相环 · 纯色混灰（浊色调 Tone）CMYK 色值表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432000" y="900000"/>
            <a:ext cx="1260000" cy="420000"/>
          </a:xfrm>
          <a:prstGeom prst="rect">
            <a:avLst/>
          </a:prstGeom>
          <a:solidFill>
            <a:srgbClr val="CC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2000" y="1320000"/>
            <a:ext cx="1260000" cy="420000"/>
          </a:xfrm>
          <a:prstGeom prst="rect">
            <a:avLst/>
          </a:prstGeom>
          <a:solidFill>
            <a:srgbClr val="99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2000" y="1740000"/>
            <a:ext cx="1260000" cy="420000"/>
          </a:xfrm>
          <a:prstGeom prst="rect">
            <a:avLst/>
          </a:prstGeom>
          <a:solidFill>
            <a:srgbClr val="66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2000" y="2196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82828"/>
                </a:solidFill>
                <a:latin typeface="SimHei"/>
              </a:rPr>
              <a:t>浊红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2358000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05050"/>
                </a:solidFill>
                <a:latin typeface="Arial"/>
              </a:rPr>
              <a:t>C0 M70 Y70 K30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82000" y="900000"/>
            <a:ext cx="1260000" cy="420000"/>
          </a:xfrm>
          <a:prstGeom prst="rect">
            <a:avLst/>
          </a:prstGeom>
          <a:solidFill>
            <a:srgbClr val="CC6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82000" y="1320000"/>
            <a:ext cx="1260000" cy="420000"/>
          </a:xfrm>
          <a:prstGeom prst="rect">
            <a:avLst/>
          </a:prstGeom>
          <a:solidFill>
            <a:srgbClr val="994C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82000" y="1740000"/>
            <a:ext cx="1260000" cy="420000"/>
          </a:xfrm>
          <a:prstGeom prst="rect">
            <a:avLst/>
          </a:prstGeom>
          <a:solidFill>
            <a:srgbClr val="6633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82000" y="2196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82828"/>
                </a:solidFill>
                <a:latin typeface="SimHei"/>
              </a:rPr>
              <a:t>浊红橙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2000" y="2358000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05050"/>
                </a:solidFill>
                <a:latin typeface="Arial"/>
              </a:rPr>
              <a:t>C0 M50 Y70 K30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32000" y="900000"/>
            <a:ext cx="1260000" cy="420000"/>
          </a:xfrm>
          <a:prstGeom prst="rect">
            <a:avLst/>
          </a:prstGeom>
          <a:solidFill>
            <a:srgbClr val="CC8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132000" y="1320000"/>
            <a:ext cx="1260000" cy="420000"/>
          </a:xfrm>
          <a:prstGeom prst="rect">
            <a:avLst/>
          </a:prstGeom>
          <a:solidFill>
            <a:srgbClr val="9963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132000" y="1740000"/>
            <a:ext cx="1260000" cy="420000"/>
          </a:xfrm>
          <a:prstGeom prst="rect">
            <a:avLst/>
          </a:prstGeom>
          <a:solidFill>
            <a:srgbClr val="664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32000" y="2196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82828"/>
                </a:solidFill>
                <a:latin typeface="SimHei"/>
              </a:rPr>
              <a:t>浊橙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32000" y="2358000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05050"/>
                </a:solidFill>
                <a:latin typeface="Arial"/>
              </a:rPr>
              <a:t>C0 M35 Y70 K30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82000" y="900000"/>
            <a:ext cx="1260000" cy="420000"/>
          </a:xfrm>
          <a:prstGeom prst="rect">
            <a:avLst/>
          </a:prstGeom>
          <a:solidFill>
            <a:srgbClr val="CC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482000" y="1320000"/>
            <a:ext cx="1260000" cy="420000"/>
          </a:xfrm>
          <a:prstGeom prst="rect">
            <a:avLst/>
          </a:prstGeom>
          <a:solidFill>
            <a:srgbClr val="997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82000" y="1740000"/>
            <a:ext cx="1260000" cy="420000"/>
          </a:xfrm>
          <a:prstGeom prst="rect">
            <a:avLst/>
          </a:prstGeom>
          <a:solidFill>
            <a:srgbClr val="66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2000" y="2196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82828"/>
                </a:solidFill>
                <a:latin typeface="SimHei"/>
              </a:rPr>
              <a:t>浊黄橙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2000" y="2358000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05050"/>
                </a:solidFill>
                <a:latin typeface="Arial"/>
              </a:rPr>
              <a:t>C0 M20 Y70 K30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32000" y="900000"/>
            <a:ext cx="1260000" cy="420000"/>
          </a:xfrm>
          <a:prstGeom prst="rect">
            <a:avLst/>
          </a:prstGeom>
          <a:solidFill>
            <a:srgbClr val="CCC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32000" y="1320000"/>
            <a:ext cx="1260000" cy="420000"/>
          </a:xfrm>
          <a:prstGeom prst="rect">
            <a:avLst/>
          </a:prstGeom>
          <a:solidFill>
            <a:srgbClr val="999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832000" y="1740000"/>
            <a:ext cx="1260000" cy="420000"/>
          </a:xfrm>
          <a:prstGeom prst="rect">
            <a:avLst/>
          </a:prstGeom>
          <a:solidFill>
            <a:srgbClr val="666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32000" y="2196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82828"/>
                </a:solidFill>
                <a:latin typeface="SimHei"/>
              </a:rPr>
              <a:t>浊黄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32000" y="2358000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05050"/>
                </a:solidFill>
                <a:latin typeface="Arial"/>
              </a:rPr>
              <a:t>C0 M0 Y70 K30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82000" y="900000"/>
            <a:ext cx="1260000" cy="420000"/>
          </a:xfrm>
          <a:prstGeom prst="rect">
            <a:avLst/>
          </a:prstGeom>
          <a:solidFill>
            <a:srgbClr val="8EC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182000" y="1320000"/>
            <a:ext cx="1260000" cy="420000"/>
          </a:xfrm>
          <a:prstGeom prst="rect">
            <a:avLst/>
          </a:prstGeom>
          <a:solidFill>
            <a:srgbClr val="6B9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182000" y="1740000"/>
            <a:ext cx="1260000" cy="420000"/>
          </a:xfrm>
          <a:prstGeom prst="rect">
            <a:avLst/>
          </a:prstGeom>
          <a:solidFill>
            <a:srgbClr val="476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82000" y="2196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82828"/>
                </a:solidFill>
                <a:latin typeface="SimHei"/>
              </a:rPr>
              <a:t>浊黄绿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82000" y="2358000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05050"/>
                </a:solidFill>
                <a:latin typeface="Arial"/>
              </a:rPr>
              <a:t>C30 M0 Y70 K30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2000" y="2880000"/>
            <a:ext cx="1260000" cy="420000"/>
          </a:xfrm>
          <a:prstGeom prst="rect">
            <a:avLst/>
          </a:prstGeom>
          <a:solidFill>
            <a:srgbClr val="3DC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2000" y="3300000"/>
            <a:ext cx="1260000" cy="420000"/>
          </a:xfrm>
          <a:prstGeom prst="rect">
            <a:avLst/>
          </a:prstGeom>
          <a:solidFill>
            <a:srgbClr val="2D9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2000" y="3720000"/>
            <a:ext cx="1260000" cy="420000"/>
          </a:xfrm>
          <a:prstGeom prst="rect">
            <a:avLst/>
          </a:prstGeom>
          <a:solidFill>
            <a:srgbClr val="1E6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2000" y="4176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82828"/>
                </a:solidFill>
                <a:latin typeface="SimHei"/>
              </a:rPr>
              <a:t>浊绿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2000" y="4338000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05050"/>
                </a:solidFill>
                <a:latin typeface="Arial"/>
              </a:rPr>
              <a:t>C70 M0 Y70 K30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782000" y="2880000"/>
            <a:ext cx="1260000" cy="420000"/>
          </a:xfrm>
          <a:prstGeom prst="rect">
            <a:avLst/>
          </a:prstGeom>
          <a:solidFill>
            <a:srgbClr val="3DCC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782000" y="3300000"/>
            <a:ext cx="1260000" cy="420000"/>
          </a:xfrm>
          <a:prstGeom prst="rect">
            <a:avLst/>
          </a:prstGeom>
          <a:solidFill>
            <a:srgbClr val="2D9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782000" y="3720000"/>
            <a:ext cx="1260000" cy="420000"/>
          </a:xfrm>
          <a:prstGeom prst="rect">
            <a:avLst/>
          </a:prstGeom>
          <a:solidFill>
            <a:srgbClr val="1E66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782000" y="4176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82828"/>
                </a:solidFill>
                <a:latin typeface="SimHei"/>
              </a:rPr>
              <a:t>浊蓝绿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82000" y="4338000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05050"/>
                </a:solidFill>
                <a:latin typeface="Arial"/>
              </a:rPr>
              <a:t>C70 M0 Y28 K30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32000" y="2880000"/>
            <a:ext cx="1260000" cy="420000"/>
          </a:xfrm>
          <a:prstGeom prst="rect">
            <a:avLst/>
          </a:prstGeom>
          <a:solidFill>
            <a:srgbClr val="3D7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132000" y="3300000"/>
            <a:ext cx="1260000" cy="420000"/>
          </a:xfrm>
          <a:prstGeom prst="rect">
            <a:avLst/>
          </a:prstGeom>
          <a:solidFill>
            <a:srgbClr val="2D5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132000" y="3720000"/>
            <a:ext cx="1260000" cy="420000"/>
          </a:xfrm>
          <a:prstGeom prst="rect">
            <a:avLst/>
          </a:prstGeom>
          <a:solidFill>
            <a:srgbClr val="1E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132000" y="4176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82828"/>
                </a:solidFill>
                <a:latin typeface="SimHei"/>
              </a:rPr>
              <a:t>浊蓝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32000" y="4338000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05050"/>
                </a:solidFill>
                <a:latin typeface="Arial"/>
              </a:rPr>
              <a:t>C70 M42 Y0 K30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82000" y="2880000"/>
            <a:ext cx="1260000" cy="420000"/>
          </a:xfrm>
          <a:prstGeom prst="rect">
            <a:avLst/>
          </a:prstGeom>
          <a:solidFill>
            <a:srgbClr val="595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482000" y="3300000"/>
            <a:ext cx="1260000" cy="420000"/>
          </a:xfrm>
          <a:prstGeom prst="rect">
            <a:avLst/>
          </a:prstGeom>
          <a:solidFill>
            <a:srgbClr val="434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482000" y="3720000"/>
            <a:ext cx="1260000" cy="420000"/>
          </a:xfrm>
          <a:prstGeom prst="rect">
            <a:avLst/>
          </a:prstGeom>
          <a:solidFill>
            <a:srgbClr val="2C2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482000" y="4176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82828"/>
                </a:solidFill>
                <a:latin typeface="SimHei"/>
              </a:rPr>
              <a:t>浊蓝紫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82000" y="4338000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05050"/>
                </a:solidFill>
                <a:latin typeface="Arial"/>
              </a:rPr>
              <a:t>C56 M56 Y0 K30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832000" y="2880000"/>
            <a:ext cx="1260000" cy="420000"/>
          </a:xfrm>
          <a:prstGeom prst="rect">
            <a:avLst/>
          </a:prstGeom>
          <a:solidFill>
            <a:srgbClr val="763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832000" y="3300000"/>
            <a:ext cx="1260000" cy="420000"/>
          </a:xfrm>
          <a:prstGeom prst="rect">
            <a:avLst/>
          </a:prstGeom>
          <a:solidFill>
            <a:srgbClr val="582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832000" y="3720000"/>
            <a:ext cx="1260000" cy="420000"/>
          </a:xfrm>
          <a:prstGeom prst="rect">
            <a:avLst/>
          </a:prstGeom>
          <a:solidFill>
            <a:srgbClr val="3B1E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832000" y="4176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82828"/>
                </a:solidFill>
                <a:latin typeface="SimHei"/>
              </a:rPr>
              <a:t>浊紫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832000" y="4338000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05050"/>
                </a:solidFill>
                <a:latin typeface="Arial"/>
              </a:rPr>
              <a:t>C42 M70 Y0 K30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182000" y="2880000"/>
            <a:ext cx="1260000" cy="420000"/>
          </a:xfrm>
          <a:prstGeom prst="rect">
            <a:avLst/>
          </a:prstGeom>
          <a:solidFill>
            <a:srgbClr val="AF3D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182000" y="3300000"/>
            <a:ext cx="1260000" cy="420000"/>
          </a:xfrm>
          <a:prstGeom prst="rect">
            <a:avLst/>
          </a:prstGeom>
          <a:solidFill>
            <a:srgbClr val="832D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182000" y="3720000"/>
            <a:ext cx="1260000" cy="420000"/>
          </a:xfrm>
          <a:prstGeom prst="rect">
            <a:avLst/>
          </a:prstGeom>
          <a:solidFill>
            <a:srgbClr val="571E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82000" y="4176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82828"/>
                </a:solidFill>
                <a:latin typeface="SimHei"/>
              </a:rPr>
              <a:t>浊红紫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182000" y="4338000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05050"/>
                </a:solidFill>
                <a:latin typeface="Arial"/>
              </a:rPr>
              <a:t>C14 M70 Y14 K30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0000" y="9540000"/>
            <a:ext cx="144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878"/>
                </a:solidFill>
                <a:latin typeface="SimSun"/>
              </a:rPr>
              <a:t>混灰浊色调 / Tone  ·  纯色+灰色混合（加黑K值渐进）·  CMYK印刷参考值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120000" cy="10692000"/>
          </a:xfrm>
          <a:prstGeom prst="rect">
            <a:avLst/>
          </a:prstGeom>
          <a:solidFill>
            <a:srgbClr val="F8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120000" cy="648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1296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DC96"/>
                </a:solidFill>
                <a:latin typeface="SimHei"/>
              </a:rPr>
              <a:t>04  色相环 · 纯色混黑（暗色调 Shade）CMYK 色值表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432000" y="900000"/>
            <a:ext cx="1260000" cy="420000"/>
          </a:xfrm>
          <a:prstGeom prst="rect">
            <a:avLst/>
          </a:prstGeom>
          <a:solidFill>
            <a:srgbClr val="9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2000" y="1320000"/>
            <a:ext cx="1260000" cy="420000"/>
          </a:xfrm>
          <a:prstGeom prst="rect">
            <a:avLst/>
          </a:prstGeom>
          <a:solidFill>
            <a:srgbClr val="6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2000" y="1740000"/>
            <a:ext cx="1260000" cy="420000"/>
          </a:xfrm>
          <a:prstGeom prst="rect">
            <a:avLst/>
          </a:prstGeom>
          <a:solidFill>
            <a:srgbClr val="3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2000" y="2196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82828"/>
                </a:solidFill>
                <a:latin typeface="SimHei"/>
              </a:rPr>
              <a:t>暗红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2358000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05050"/>
                </a:solidFill>
                <a:latin typeface="Arial"/>
              </a:rPr>
              <a:t>C0 M100 Y100 K40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82000" y="900000"/>
            <a:ext cx="1260000" cy="420000"/>
          </a:xfrm>
          <a:prstGeom prst="rect">
            <a:avLst/>
          </a:prstGeom>
          <a:solidFill>
            <a:srgbClr val="992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82000" y="1320000"/>
            <a:ext cx="1260000" cy="420000"/>
          </a:xfrm>
          <a:prstGeom prst="rect">
            <a:avLst/>
          </a:prstGeom>
          <a:solidFill>
            <a:srgbClr val="661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82000" y="1740000"/>
            <a:ext cx="1260000" cy="420000"/>
          </a:xfrm>
          <a:prstGeom prst="rect">
            <a:avLst/>
          </a:prstGeom>
          <a:solidFill>
            <a:srgbClr val="320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82000" y="2196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82828"/>
                </a:solidFill>
                <a:latin typeface="SimHei"/>
              </a:rPr>
              <a:t>暗红橙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2000" y="2358000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05050"/>
                </a:solidFill>
                <a:latin typeface="Arial"/>
              </a:rPr>
              <a:t>C0 M70 Y100 K40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32000" y="900000"/>
            <a:ext cx="1260000" cy="420000"/>
          </a:xfrm>
          <a:prstGeom prst="rect">
            <a:avLst/>
          </a:prstGeom>
          <a:solidFill>
            <a:srgbClr val="994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132000" y="1320000"/>
            <a:ext cx="1260000" cy="420000"/>
          </a:xfrm>
          <a:prstGeom prst="rect">
            <a:avLst/>
          </a:prstGeom>
          <a:solidFill>
            <a:srgbClr val="663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132000" y="1740000"/>
            <a:ext cx="1260000" cy="420000"/>
          </a:xfrm>
          <a:prstGeom prst="rect">
            <a:avLst/>
          </a:prstGeom>
          <a:solidFill>
            <a:srgbClr val="321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32000" y="2196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82828"/>
                </a:solidFill>
                <a:latin typeface="SimHei"/>
              </a:rPr>
              <a:t>暗橙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32000" y="2358000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05050"/>
                </a:solidFill>
                <a:latin typeface="Arial"/>
              </a:rPr>
              <a:t>C0 M50 Y100 K40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82000" y="900000"/>
            <a:ext cx="1260000" cy="420000"/>
          </a:xfrm>
          <a:prstGeom prst="rect">
            <a:avLst/>
          </a:prstGeom>
          <a:solidFill>
            <a:srgbClr val="99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482000" y="1320000"/>
            <a:ext cx="1260000" cy="420000"/>
          </a:xfrm>
          <a:prstGeom prst="rect">
            <a:avLst/>
          </a:prstGeom>
          <a:solidFill>
            <a:srgbClr val="664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82000" y="1740000"/>
            <a:ext cx="1260000" cy="420000"/>
          </a:xfrm>
          <a:prstGeom prst="rect">
            <a:avLst/>
          </a:prstGeom>
          <a:solidFill>
            <a:srgbClr val="322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2000" y="2196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82828"/>
                </a:solidFill>
                <a:latin typeface="SimHei"/>
              </a:rPr>
              <a:t>暗黄橙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2000" y="2358000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05050"/>
                </a:solidFill>
                <a:latin typeface="Arial"/>
              </a:rPr>
              <a:t>C0 M30 Y100 K40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32000" y="900000"/>
            <a:ext cx="1260000" cy="420000"/>
          </a:xfrm>
          <a:prstGeom prst="rect">
            <a:avLst/>
          </a:prstGeom>
          <a:solidFill>
            <a:srgbClr val="99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32000" y="1320000"/>
            <a:ext cx="1260000" cy="420000"/>
          </a:xfrm>
          <a:prstGeom prst="rect">
            <a:avLst/>
          </a:prstGeom>
          <a:solidFill>
            <a:srgbClr val="66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832000" y="1740000"/>
            <a:ext cx="1260000" cy="420000"/>
          </a:xfrm>
          <a:prstGeom prst="rect">
            <a:avLst/>
          </a:prstGeom>
          <a:solidFill>
            <a:srgbClr val="323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32000" y="2196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82828"/>
                </a:solidFill>
                <a:latin typeface="SimHei"/>
              </a:rPr>
              <a:t>暗黄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32000" y="2358000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05050"/>
                </a:solidFill>
                <a:latin typeface="Arial"/>
              </a:rPr>
              <a:t>C0 M0 Y100 K40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82000" y="900000"/>
            <a:ext cx="1260000" cy="420000"/>
          </a:xfrm>
          <a:prstGeom prst="rect">
            <a:avLst/>
          </a:prstGeom>
          <a:solidFill>
            <a:srgbClr val="5B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182000" y="1320000"/>
            <a:ext cx="1260000" cy="420000"/>
          </a:xfrm>
          <a:prstGeom prst="rect">
            <a:avLst/>
          </a:prstGeom>
          <a:solidFill>
            <a:srgbClr val="3D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182000" y="1740000"/>
            <a:ext cx="1260000" cy="420000"/>
          </a:xfrm>
          <a:prstGeom prst="rect">
            <a:avLst/>
          </a:prstGeom>
          <a:solidFill>
            <a:srgbClr val="1E3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82000" y="2196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82828"/>
                </a:solidFill>
                <a:latin typeface="SimHei"/>
              </a:rPr>
              <a:t>暗黄绿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82000" y="2358000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05050"/>
                </a:solidFill>
                <a:latin typeface="Arial"/>
              </a:rPr>
              <a:t>C40 M0 Y100 K40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2000" y="2880000"/>
            <a:ext cx="1260000" cy="420000"/>
          </a:xfrm>
          <a:prstGeom prst="rect">
            <a:avLst/>
          </a:prstGeom>
          <a:solidFill>
            <a:srgbClr val="00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2000" y="3300000"/>
            <a:ext cx="1260000" cy="420000"/>
          </a:xfrm>
          <a:prstGeom prst="rect">
            <a:avLst/>
          </a:prstGeom>
          <a:solidFill>
            <a:srgbClr val="00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2000" y="3720000"/>
            <a:ext cx="1260000" cy="420000"/>
          </a:xfrm>
          <a:prstGeom prst="rect">
            <a:avLst/>
          </a:prstGeom>
          <a:solidFill>
            <a:srgbClr val="003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2000" y="4176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82828"/>
                </a:solidFill>
                <a:latin typeface="SimHei"/>
              </a:rPr>
              <a:t>暗绿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2000" y="4338000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05050"/>
                </a:solidFill>
                <a:latin typeface="Arial"/>
              </a:rPr>
              <a:t>C100 M0 Y100 K40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782000" y="2880000"/>
            <a:ext cx="1260000" cy="420000"/>
          </a:xfrm>
          <a:prstGeom prst="rect">
            <a:avLst/>
          </a:prstGeom>
          <a:solidFill>
            <a:srgbClr val="0099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782000" y="3300000"/>
            <a:ext cx="1260000" cy="420000"/>
          </a:xfrm>
          <a:prstGeom prst="rect">
            <a:avLst/>
          </a:prstGeom>
          <a:solidFill>
            <a:srgbClr val="006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782000" y="3720000"/>
            <a:ext cx="1260000" cy="420000"/>
          </a:xfrm>
          <a:prstGeom prst="rect">
            <a:avLst/>
          </a:prstGeom>
          <a:solidFill>
            <a:srgbClr val="003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782000" y="4176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82828"/>
                </a:solidFill>
                <a:latin typeface="SimHei"/>
              </a:rPr>
              <a:t>暗蓝绿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82000" y="4338000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05050"/>
                </a:solidFill>
                <a:latin typeface="Arial"/>
              </a:rPr>
              <a:t>C100 M0 Y40 K40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32000" y="2880000"/>
            <a:ext cx="1260000" cy="420000"/>
          </a:xfrm>
          <a:prstGeom prst="rect">
            <a:avLst/>
          </a:prstGeom>
          <a:solidFill>
            <a:srgbClr val="003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132000" y="3300000"/>
            <a:ext cx="1260000" cy="420000"/>
          </a:xfrm>
          <a:prstGeom prst="rect">
            <a:avLst/>
          </a:prstGeom>
          <a:solidFill>
            <a:srgbClr val="0028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132000" y="3720000"/>
            <a:ext cx="1260000" cy="420000"/>
          </a:xfrm>
          <a:prstGeom prst="rect">
            <a:avLst/>
          </a:prstGeom>
          <a:solidFill>
            <a:srgbClr val="001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132000" y="4176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82828"/>
                </a:solidFill>
                <a:latin typeface="SimHei"/>
              </a:rPr>
              <a:t>暗蓝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32000" y="4338000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05050"/>
                </a:solidFill>
                <a:latin typeface="Arial"/>
              </a:rPr>
              <a:t>C100 M60 Y0 K40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82000" y="2880000"/>
            <a:ext cx="1260000" cy="420000"/>
          </a:xfrm>
          <a:prstGeom prst="rect">
            <a:avLst/>
          </a:prstGeom>
          <a:solidFill>
            <a:srgbClr val="1E1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482000" y="3300000"/>
            <a:ext cx="1260000" cy="420000"/>
          </a:xfrm>
          <a:prstGeom prst="rect">
            <a:avLst/>
          </a:prstGeom>
          <a:solidFill>
            <a:srgbClr val="141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482000" y="3720000"/>
            <a:ext cx="1260000" cy="420000"/>
          </a:xfrm>
          <a:prstGeom prst="rect">
            <a:avLst/>
          </a:prstGeom>
          <a:solidFill>
            <a:srgbClr val="0A0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482000" y="4176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82828"/>
                </a:solidFill>
                <a:latin typeface="SimHei"/>
              </a:rPr>
              <a:t>暗蓝紫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82000" y="4338000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05050"/>
                </a:solidFill>
                <a:latin typeface="Arial"/>
              </a:rPr>
              <a:t>C80 M80 Y0 K40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832000" y="2880000"/>
            <a:ext cx="1260000" cy="420000"/>
          </a:xfrm>
          <a:prstGeom prst="rect">
            <a:avLst/>
          </a:prstGeom>
          <a:solidFill>
            <a:srgbClr val="3D00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832000" y="3300000"/>
            <a:ext cx="1260000" cy="420000"/>
          </a:xfrm>
          <a:prstGeom prst="rect">
            <a:avLst/>
          </a:prstGeom>
          <a:solidFill>
            <a:srgbClr val="2800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832000" y="3720000"/>
            <a:ext cx="1260000" cy="420000"/>
          </a:xfrm>
          <a:prstGeom prst="rect">
            <a:avLst/>
          </a:prstGeom>
          <a:solidFill>
            <a:srgbClr val="140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832000" y="4176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82828"/>
                </a:solidFill>
                <a:latin typeface="SimHei"/>
              </a:rPr>
              <a:t>暗紫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832000" y="4338000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05050"/>
                </a:solidFill>
                <a:latin typeface="Arial"/>
              </a:rPr>
              <a:t>C60 M100 Y0 K40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182000" y="2880000"/>
            <a:ext cx="1260000" cy="420000"/>
          </a:xfrm>
          <a:prstGeom prst="rect">
            <a:avLst/>
          </a:prstGeom>
          <a:solidFill>
            <a:srgbClr val="7A0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182000" y="3300000"/>
            <a:ext cx="1260000" cy="420000"/>
          </a:xfrm>
          <a:prstGeom prst="rect">
            <a:avLst/>
          </a:prstGeom>
          <a:solidFill>
            <a:srgbClr val="510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182000" y="3720000"/>
            <a:ext cx="1260000" cy="420000"/>
          </a:xfrm>
          <a:prstGeom prst="rect">
            <a:avLst/>
          </a:prstGeom>
          <a:solidFill>
            <a:srgbClr val="28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82000" y="4176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82828"/>
                </a:solidFill>
                <a:latin typeface="SimHei"/>
              </a:rPr>
              <a:t>暗红紫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182000" y="4338000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05050"/>
                </a:solidFill>
                <a:latin typeface="Arial"/>
              </a:rPr>
              <a:t>C20 M100 Y20 K40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0000" y="9540000"/>
            <a:ext cx="144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878"/>
                </a:solidFill>
                <a:latin typeface="SimSun"/>
              </a:rPr>
              <a:t>混黑暗色调 / Shade  ·  纯色+黑色混合（K值20/40/60渐进）·  CMYK印刷参考值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120000" cy="10692000"/>
          </a:xfrm>
          <a:prstGeom prst="rect">
            <a:avLst/>
          </a:prstGeom>
          <a:solidFill>
            <a:srgbClr val="FA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120000" cy="648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1296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DC96"/>
                </a:solidFill>
                <a:latin typeface="SimHei"/>
              </a:rPr>
              <a:t>05  常用拉丁字体全字母编排（1–15款）无衬线体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720000"/>
            <a:ext cx="126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C3C3C"/>
                </a:solidFill>
                <a:latin typeface="Arial"/>
              </a:rPr>
              <a:t>1. Helvetica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0000" y="720000"/>
            <a:ext cx="1152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1E1E"/>
                </a:solidFill>
                <a:latin typeface="Arial"/>
              </a:rPr>
              <a:t>AaBbCcDdEeFfGgHhIiJjKkLlMmNnOoPpQqRrSsTtUuVvWwXxYyZz  0123456789 !@#$%&amp;*().,;:?!"'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00000" y="7920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B43C3C"/>
                </a:solidFill>
                <a:latin typeface="SimSun"/>
              </a:rPr>
              <a:t>无衬线体</a:t>
            </a:r>
          </a:p>
        </p:txBody>
      </p:sp>
      <p:sp>
        <p:nvSpPr>
          <p:cNvPr id="8" name="Rectangle 7"/>
          <p:cNvSpPr/>
          <p:nvPr/>
        </p:nvSpPr>
        <p:spPr>
          <a:xfrm>
            <a:off x="180000" y="1285200"/>
            <a:ext cx="14760000" cy="10800"/>
          </a:xfrm>
          <a:prstGeom prst="rect">
            <a:avLst/>
          </a:prstGeom>
          <a:solidFill>
            <a:srgbClr val="D2C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0000" y="1303200"/>
            <a:ext cx="126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C3C3C"/>
                </a:solidFill>
                <a:latin typeface="Arial"/>
              </a:rPr>
              <a:t>2. Avant Garde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0000" y="1303200"/>
            <a:ext cx="1152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1E1E"/>
                </a:solidFill>
                <a:latin typeface="Arial"/>
              </a:rPr>
              <a:t>AaBbCcDdEeFfGgHhIiJjKkLlMmNnOoPpQqRrSsTtUuVvWwXxYyZz  0123456789 !@#$%&amp;*().,;:?!"'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00000" y="13752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B43C3C"/>
                </a:solidFill>
                <a:latin typeface="SimSun"/>
              </a:rPr>
              <a:t>无衬线体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0000" y="1868400"/>
            <a:ext cx="14760000" cy="10800"/>
          </a:xfrm>
          <a:prstGeom prst="rect">
            <a:avLst/>
          </a:prstGeom>
          <a:solidFill>
            <a:srgbClr val="D2C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0000" y="1886400"/>
            <a:ext cx="126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C3C3C"/>
                </a:solidFill>
                <a:latin typeface="Arial"/>
              </a:rPr>
              <a:t>3. Bell Centennial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0000" y="1886400"/>
            <a:ext cx="1152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1E1E"/>
                </a:solidFill>
                <a:latin typeface="Arial"/>
              </a:rPr>
              <a:t>AaBbCcDdEeFfGgHhIiJjKkLlMmNnOoPpQqRrSsTtUuVvWwXxYyZz  0123456789 !@#$%&amp;*().,;:?!"'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500000" y="19584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B43C3C"/>
                </a:solidFill>
                <a:latin typeface="SimSun"/>
              </a:rPr>
              <a:t>无衬线体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0000" y="2451600"/>
            <a:ext cx="14760000" cy="10800"/>
          </a:xfrm>
          <a:prstGeom prst="rect">
            <a:avLst/>
          </a:prstGeom>
          <a:solidFill>
            <a:srgbClr val="D2C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0000" y="2469600"/>
            <a:ext cx="126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C3C3C"/>
                </a:solidFill>
                <a:latin typeface="Arial"/>
              </a:rPr>
              <a:t>4. Bell Gothic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40000" y="2469600"/>
            <a:ext cx="1152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1E1E"/>
                </a:solidFill>
                <a:latin typeface="Arial"/>
              </a:rPr>
              <a:t>AaBbCcDdEeFfGgHhIiJjKkLlMmNnOoPpQqRrSsTtUuVvWwXxYyZz  0123456789 !@#$%&amp;*().,;:?!"'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500000" y="25416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B43C3C"/>
                </a:solidFill>
                <a:latin typeface="SimSun"/>
              </a:rPr>
              <a:t>无衬线体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0000" y="3034800"/>
            <a:ext cx="14760000" cy="10800"/>
          </a:xfrm>
          <a:prstGeom prst="rect">
            <a:avLst/>
          </a:prstGeom>
          <a:solidFill>
            <a:srgbClr val="D2C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0000" y="3052800"/>
            <a:ext cx="126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C3C3C"/>
                </a:solidFill>
                <a:latin typeface="Arial"/>
              </a:rPr>
              <a:t>5. DIN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40000" y="3052800"/>
            <a:ext cx="1152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1E1E"/>
                </a:solidFill>
                <a:latin typeface="Arial"/>
              </a:rPr>
              <a:t>AaBbCcDdEeFfGgHhIiJjKkLlMmNnOoPpQqRrSsTtUuVvWwXxYyZz  0123456789 !@#$%&amp;*().,;:?!"'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500000" y="31248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B43C3C"/>
                </a:solidFill>
                <a:latin typeface="SimSun"/>
              </a:rPr>
              <a:t>无衬线体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0000" y="3618000"/>
            <a:ext cx="14760000" cy="10800"/>
          </a:xfrm>
          <a:prstGeom prst="rect">
            <a:avLst/>
          </a:prstGeom>
          <a:solidFill>
            <a:srgbClr val="D2C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0000" y="3636000"/>
            <a:ext cx="126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C3C3C"/>
                </a:solidFill>
                <a:latin typeface="Arial"/>
              </a:rPr>
              <a:t>6. Franklin Gothic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40000" y="3636000"/>
            <a:ext cx="1152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1E1E"/>
                </a:solidFill>
                <a:latin typeface="Franklin Gothic Book"/>
              </a:rPr>
              <a:t>AaBbCcDdEeFfGgHhIiJjKkLlMmNnOoPpQqRrSsTtUuVvWwXxYyZz  0123456789 !@#$%&amp;*().,;:?!"'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00000" y="37080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B43C3C"/>
                </a:solidFill>
                <a:latin typeface="SimSun"/>
              </a:rPr>
              <a:t>无衬线体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0000" y="4201200"/>
            <a:ext cx="14760000" cy="10800"/>
          </a:xfrm>
          <a:prstGeom prst="rect">
            <a:avLst/>
          </a:prstGeom>
          <a:solidFill>
            <a:srgbClr val="D2C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0000" y="4219200"/>
            <a:ext cx="126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C3C3C"/>
                </a:solidFill>
                <a:latin typeface="Arial"/>
              </a:rPr>
              <a:t>7. Frutiger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40000" y="4219200"/>
            <a:ext cx="1152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1E1E"/>
                </a:solidFill>
                <a:latin typeface="Arial"/>
              </a:rPr>
              <a:t>AaBbCcDdEeFfGgHhIiJjKkLlMmNnOoPpQqRrSsTtUuVvWwXxYyZz  0123456789 !@#$%&amp;*().,;:?!"'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500000" y="42912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B43C3C"/>
                </a:solidFill>
                <a:latin typeface="SimSun"/>
              </a:rPr>
              <a:t>无衬线体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0000" y="4784400"/>
            <a:ext cx="14760000" cy="10800"/>
          </a:xfrm>
          <a:prstGeom prst="rect">
            <a:avLst/>
          </a:prstGeom>
          <a:solidFill>
            <a:srgbClr val="D2C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0000" y="4802400"/>
            <a:ext cx="126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C3C3C"/>
                </a:solidFill>
                <a:latin typeface="Arial"/>
              </a:rPr>
              <a:t>8. Futura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40000" y="4802400"/>
            <a:ext cx="1152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1E1E"/>
                </a:solidFill>
                <a:latin typeface="Futura Bk BT"/>
              </a:rPr>
              <a:t>AaBbCcDdEeFfGgHhIiJjKkLlMmNnOoPpQqRrSsTtUuVvWwXxYyZz  0123456789 !@#$%&amp;*().,;:?!"'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500000" y="48744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B43C3C"/>
                </a:solidFill>
                <a:latin typeface="SimSun"/>
              </a:rPr>
              <a:t>无衬线体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0000" y="5367600"/>
            <a:ext cx="14760000" cy="10800"/>
          </a:xfrm>
          <a:prstGeom prst="rect">
            <a:avLst/>
          </a:prstGeom>
          <a:solidFill>
            <a:srgbClr val="D2C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0000" y="5385600"/>
            <a:ext cx="126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C3C3C"/>
                </a:solidFill>
                <a:latin typeface="Arial"/>
              </a:rPr>
              <a:t>9. Gill Sans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40000" y="5385600"/>
            <a:ext cx="1152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1E1E"/>
                </a:solidFill>
                <a:latin typeface="Gill Sans MT"/>
              </a:rPr>
              <a:t>AaBbCcDdEeFfGgHhIiJjKkLlMmNnOoPpQqRrSsTtUuVvWwXxYyZz  0123456789 !@#$%&amp;*().,;:?!"'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500000" y="54576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B43C3C"/>
                </a:solidFill>
                <a:latin typeface="SimSun"/>
              </a:rPr>
              <a:t>无衬线体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0000" y="5950800"/>
            <a:ext cx="14760000" cy="10800"/>
          </a:xfrm>
          <a:prstGeom prst="rect">
            <a:avLst/>
          </a:prstGeom>
          <a:solidFill>
            <a:srgbClr val="D2C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80000" y="5968800"/>
            <a:ext cx="126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C3C3C"/>
                </a:solidFill>
                <a:latin typeface="Arial"/>
              </a:rPr>
              <a:t>10. Eurostile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40000" y="5968800"/>
            <a:ext cx="1152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1E1E"/>
                </a:solidFill>
                <a:latin typeface="Arial"/>
              </a:rPr>
              <a:t>AaBbCcDdEeFfGgHhIiJjKkLlMmNnOoPpQqRrSsTtUuVvWwXxYyZz  0123456789 !@#$%&amp;*().,;:?!"'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500000" y="60408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B43C3C"/>
                </a:solidFill>
                <a:latin typeface="SimSun"/>
              </a:rPr>
              <a:t>无衬线体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80000" y="6534000"/>
            <a:ext cx="14760000" cy="10800"/>
          </a:xfrm>
          <a:prstGeom prst="rect">
            <a:avLst/>
          </a:prstGeom>
          <a:solidFill>
            <a:srgbClr val="D2C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80000" y="6552000"/>
            <a:ext cx="126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C3C3C"/>
                </a:solidFill>
                <a:latin typeface="Arial"/>
              </a:rPr>
              <a:t>11. Eras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440000" y="6552000"/>
            <a:ext cx="1152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1E1E"/>
                </a:solidFill>
                <a:latin typeface="Arial"/>
              </a:rPr>
              <a:t>AaBbCcDdEeFfGgHhIiJjKkLlMmNnOoPpQqRrSsTtUuVvWwXxYyZz  0123456789 !@#$%&amp;*().,;:?!"'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500000" y="66240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B43C3C"/>
                </a:solidFill>
                <a:latin typeface="SimSun"/>
              </a:rPr>
              <a:t>无衬线体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0000" y="7117200"/>
            <a:ext cx="14760000" cy="10800"/>
          </a:xfrm>
          <a:prstGeom prst="rect">
            <a:avLst/>
          </a:prstGeom>
          <a:solidFill>
            <a:srgbClr val="D2C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80000" y="7135200"/>
            <a:ext cx="126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C3C3C"/>
                </a:solidFill>
                <a:latin typeface="Arial"/>
              </a:rPr>
              <a:t>12. News Gothic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440000" y="7135200"/>
            <a:ext cx="1152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1E1E"/>
                </a:solidFill>
                <a:latin typeface="News Gothic MT"/>
              </a:rPr>
              <a:t>AaBbCcDdEeFfGgHhIiJjKkLlMmNnOoPpQqRrSsTtUuVvWwXxYyZz  0123456789 !@#$%&amp;*().,;:?!"'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500000" y="72072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B43C3C"/>
                </a:solidFill>
                <a:latin typeface="SimSun"/>
              </a:rPr>
              <a:t>无衬线体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0000" y="7700400"/>
            <a:ext cx="14760000" cy="10800"/>
          </a:xfrm>
          <a:prstGeom prst="rect">
            <a:avLst/>
          </a:prstGeom>
          <a:solidFill>
            <a:srgbClr val="D2C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80000" y="7718400"/>
            <a:ext cx="126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C3C3C"/>
                </a:solidFill>
                <a:latin typeface="Arial"/>
              </a:rPr>
              <a:t>13. Optima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40000" y="7718400"/>
            <a:ext cx="1152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1E1E"/>
                </a:solidFill>
                <a:latin typeface="Arial"/>
              </a:rPr>
              <a:t>AaBbCcDdEeFfGgHhIiJjKkLlMmNnOoPpQqRrSsTtUuVvWwXxYyZz  0123456789 !@#$%&amp;*().,;:?!"'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3500000" y="77904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B43C3C"/>
                </a:solidFill>
                <a:latin typeface="SimSun"/>
              </a:rPr>
              <a:t>无衬线体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80000" y="8283600"/>
            <a:ext cx="14760000" cy="10800"/>
          </a:xfrm>
          <a:prstGeom prst="rect">
            <a:avLst/>
          </a:prstGeom>
          <a:solidFill>
            <a:srgbClr val="D2C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80000" y="8301600"/>
            <a:ext cx="126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C3C3C"/>
                </a:solidFill>
                <a:latin typeface="Arial"/>
              </a:rPr>
              <a:t>14. Univers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440000" y="8301600"/>
            <a:ext cx="1152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1E1E"/>
                </a:solidFill>
                <a:latin typeface="Arial"/>
              </a:rPr>
              <a:t>AaBbCcDdEeFfGgHhIiJjKkLlMmNnOoPpQqRrSsTtUuVvWwXxYyZz  0123456789 !@#$%&amp;*().,;:?!"'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3500000" y="83736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B43C3C"/>
                </a:solidFill>
                <a:latin typeface="SimSun"/>
              </a:rPr>
              <a:t>无衬线体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80000" y="8866800"/>
            <a:ext cx="14760000" cy="10800"/>
          </a:xfrm>
          <a:prstGeom prst="rect">
            <a:avLst/>
          </a:prstGeom>
          <a:solidFill>
            <a:srgbClr val="D2C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80000" y="8884800"/>
            <a:ext cx="126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C3C3C"/>
                </a:solidFill>
                <a:latin typeface="Arial"/>
              </a:rPr>
              <a:t>15. VAG Rounded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440000" y="8884800"/>
            <a:ext cx="1152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1E1E"/>
                </a:solidFill>
                <a:latin typeface="Arial"/>
              </a:rPr>
              <a:t>AaBbCcDdEeFfGgHhIiJjKkLlMmNnOoPpQqRrSsTtUuVvWwXxYyZz  0123456789 !@#$%&amp;*().,;:?!"'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3500000" y="89568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B43C3C"/>
                </a:solidFill>
                <a:latin typeface="SimSun"/>
              </a:rPr>
              <a:t>无衬线体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80000" y="9450000"/>
            <a:ext cx="14760000" cy="10800"/>
          </a:xfrm>
          <a:prstGeom prst="rect">
            <a:avLst/>
          </a:prstGeom>
          <a:solidFill>
            <a:srgbClr val="D2C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120000" cy="10692000"/>
          </a:xfrm>
          <a:prstGeom prst="rect">
            <a:avLst/>
          </a:prstGeom>
          <a:solidFill>
            <a:srgbClr val="FA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120000" cy="648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1296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DC96"/>
                </a:solidFill>
                <a:latin typeface="SimHei"/>
              </a:rPr>
              <a:t>06  常用拉丁字体全字母编排（16–30款）有衬线体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720000"/>
            <a:ext cx="126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C3C3C"/>
                </a:solidFill>
                <a:latin typeface="Arial"/>
              </a:rPr>
              <a:t>16. Caslon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0000" y="720000"/>
            <a:ext cx="1152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1E1E"/>
                </a:solidFill>
                <a:latin typeface="Georgia"/>
              </a:rPr>
              <a:t>AaBbCcDdEeFfGgHhIiJjKkLlMmNnOoPpQqRrSsTtUuVvWwXxYyZz  0123456789 !@#$%&amp;*().,;:?!"'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00000" y="7920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C50A0"/>
                </a:solidFill>
                <a:latin typeface="SimSun"/>
              </a:rPr>
              <a:t>有衬线体</a:t>
            </a:r>
          </a:p>
        </p:txBody>
      </p:sp>
      <p:sp>
        <p:nvSpPr>
          <p:cNvPr id="8" name="Rectangle 7"/>
          <p:cNvSpPr/>
          <p:nvPr/>
        </p:nvSpPr>
        <p:spPr>
          <a:xfrm>
            <a:off x="180000" y="1285200"/>
            <a:ext cx="14760000" cy="10800"/>
          </a:xfrm>
          <a:prstGeom prst="rect">
            <a:avLst/>
          </a:prstGeom>
          <a:solidFill>
            <a:srgbClr val="D2C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0000" y="1303200"/>
            <a:ext cx="126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C3C3C"/>
                </a:solidFill>
                <a:latin typeface="Arial"/>
              </a:rPr>
              <a:t>17. Garamond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0000" y="1303200"/>
            <a:ext cx="1152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1E1E"/>
                </a:solidFill>
                <a:latin typeface="Garamond"/>
              </a:rPr>
              <a:t>AaBbCcDdEeFfGgHhIiJjKkLlMmNnOoPpQqRrSsTtUuVvWwXxYyZz  0123456789 !@#$%&amp;*().,;:?!"'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00000" y="13752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C50A0"/>
                </a:solidFill>
                <a:latin typeface="SimSun"/>
              </a:rPr>
              <a:t>有衬线体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0000" y="1868400"/>
            <a:ext cx="14760000" cy="10800"/>
          </a:xfrm>
          <a:prstGeom prst="rect">
            <a:avLst/>
          </a:prstGeom>
          <a:solidFill>
            <a:srgbClr val="D2C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0000" y="1886400"/>
            <a:ext cx="126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C3C3C"/>
                </a:solidFill>
                <a:latin typeface="Arial"/>
              </a:rPr>
              <a:t>18. Bembo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0000" y="1886400"/>
            <a:ext cx="1152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1E1E"/>
                </a:solidFill>
                <a:latin typeface="Georgia"/>
              </a:rPr>
              <a:t>AaBbCcDdEeFfGgHhIiJjKkLlMmNnOoPpQqRrSsTtUuVvWwXxYyZz  0123456789 !@#$%&amp;*().,;:?!"'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500000" y="19584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C50A0"/>
                </a:solidFill>
                <a:latin typeface="SimSun"/>
              </a:rPr>
              <a:t>有衬线体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0000" y="2451600"/>
            <a:ext cx="14760000" cy="10800"/>
          </a:xfrm>
          <a:prstGeom prst="rect">
            <a:avLst/>
          </a:prstGeom>
          <a:solidFill>
            <a:srgbClr val="D2C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0000" y="2469600"/>
            <a:ext cx="126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C3C3C"/>
                </a:solidFill>
                <a:latin typeface="Arial"/>
              </a:rPr>
              <a:t>19. Bodoni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40000" y="2469600"/>
            <a:ext cx="1152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1E1E"/>
                </a:solidFill>
                <a:latin typeface="Bodoni MT"/>
              </a:rPr>
              <a:t>AaBbCcDdEeFfGgHhIiJjKkLlMmNnOoPpQqRrSsTtUuVvWwXxYyZz  0123456789 !@#$%&amp;*().,;:?!"'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500000" y="25416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C50A0"/>
                </a:solidFill>
                <a:latin typeface="SimSun"/>
              </a:rPr>
              <a:t>有衬线体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0000" y="3034800"/>
            <a:ext cx="14760000" cy="10800"/>
          </a:xfrm>
          <a:prstGeom prst="rect">
            <a:avLst/>
          </a:prstGeom>
          <a:solidFill>
            <a:srgbClr val="D2C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0000" y="3052800"/>
            <a:ext cx="126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C3C3C"/>
                </a:solidFill>
                <a:latin typeface="Arial"/>
              </a:rPr>
              <a:t>20. Clarendon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40000" y="3052800"/>
            <a:ext cx="1152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1E1E"/>
                </a:solidFill>
                <a:latin typeface="Georgia"/>
              </a:rPr>
              <a:t>AaBbCcDdEeFfGgHhIiJjKkLlMmNnOoPpQqRrSsTtUuVvWwXxYyZz  0123456789 !@#$%&amp;*().,;:?!"'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500000" y="31248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C50A0"/>
                </a:solidFill>
                <a:latin typeface="SimSun"/>
              </a:rPr>
              <a:t>有衬线体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0000" y="3618000"/>
            <a:ext cx="14760000" cy="10800"/>
          </a:xfrm>
          <a:prstGeom prst="rect">
            <a:avLst/>
          </a:prstGeom>
          <a:solidFill>
            <a:srgbClr val="D2C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0000" y="3636000"/>
            <a:ext cx="126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C3C3C"/>
                </a:solidFill>
                <a:latin typeface="Arial"/>
              </a:rPr>
              <a:t>21. Courier 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40000" y="3636000"/>
            <a:ext cx="1152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1E1E"/>
                </a:solidFill>
                <a:latin typeface="Courier New"/>
              </a:rPr>
              <a:t>AaBbCcDdEeFfGgHhIiJjKkLlMmNnOoPpQqRrSsTtUuVvWwXxYyZz  0123456789 !@#$%&amp;*().,;:?!"'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00000" y="37080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C50A0"/>
                </a:solidFill>
                <a:latin typeface="SimSun"/>
              </a:rPr>
              <a:t>有衬线体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0000" y="4201200"/>
            <a:ext cx="14760000" cy="10800"/>
          </a:xfrm>
          <a:prstGeom prst="rect">
            <a:avLst/>
          </a:prstGeom>
          <a:solidFill>
            <a:srgbClr val="D2C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0000" y="4219200"/>
            <a:ext cx="126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C3C3C"/>
                </a:solidFill>
                <a:latin typeface="Arial"/>
              </a:rPr>
              <a:t>22. Excelsior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40000" y="4219200"/>
            <a:ext cx="1152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1E1E"/>
                </a:solidFill>
                <a:latin typeface="Georgia"/>
              </a:rPr>
              <a:t>AaBbCcDdEeFfGgHhIiJjKkLlMmNnOoPpQqRrSsTtUuVvWwXxYyZz  0123456789 !@#$%&amp;*().,;:?!"'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500000" y="42912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C50A0"/>
                </a:solidFill>
                <a:latin typeface="SimSun"/>
              </a:rPr>
              <a:t>有衬线体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0000" y="4784400"/>
            <a:ext cx="14760000" cy="10800"/>
          </a:xfrm>
          <a:prstGeom prst="rect">
            <a:avLst/>
          </a:prstGeom>
          <a:solidFill>
            <a:srgbClr val="D2C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0000" y="4802400"/>
            <a:ext cx="126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C3C3C"/>
                </a:solidFill>
                <a:latin typeface="Arial"/>
              </a:rPr>
              <a:t>23. Lucida Bright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40000" y="4802400"/>
            <a:ext cx="1152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1E1E"/>
                </a:solidFill>
                <a:latin typeface="Lucida Bright"/>
              </a:rPr>
              <a:t>AaBbCcDdEeFfGgHhIiJjKkLlMmNnOoPpQqRrSsTtUuVvWwXxYyZz  0123456789 !@#$%&amp;*().,;:?!"'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500000" y="48744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C50A0"/>
                </a:solidFill>
                <a:latin typeface="SimSun"/>
              </a:rPr>
              <a:t>有衬线体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0000" y="5367600"/>
            <a:ext cx="14760000" cy="10800"/>
          </a:xfrm>
          <a:prstGeom prst="rect">
            <a:avLst/>
          </a:prstGeom>
          <a:solidFill>
            <a:srgbClr val="D2C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0000" y="5385600"/>
            <a:ext cx="126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C3C3C"/>
                </a:solidFill>
                <a:latin typeface="Arial"/>
              </a:rPr>
              <a:t>24. Minion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40000" y="5385600"/>
            <a:ext cx="1152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1E1E"/>
                </a:solidFill>
                <a:latin typeface="Georgia"/>
              </a:rPr>
              <a:t>AaBbCcDdEeFfGgHhIiJjKkLlMmNnOoPpQqRrSsTtUuVvWwXxYyZz  0123456789 !@#$%&amp;*().,;:?!"'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500000" y="54576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C50A0"/>
                </a:solidFill>
                <a:latin typeface="SimSun"/>
              </a:rPr>
              <a:t>有衬线体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0000" y="5950800"/>
            <a:ext cx="14760000" cy="10800"/>
          </a:xfrm>
          <a:prstGeom prst="rect">
            <a:avLst/>
          </a:prstGeom>
          <a:solidFill>
            <a:srgbClr val="D2C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80000" y="5968800"/>
            <a:ext cx="126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C3C3C"/>
                </a:solidFill>
                <a:latin typeface="Arial"/>
              </a:rPr>
              <a:t>25. Perpetua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40000" y="5968800"/>
            <a:ext cx="1152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1E1E"/>
                </a:solidFill>
                <a:latin typeface="Perpetua"/>
              </a:rPr>
              <a:t>AaBbCcDdEeFfGgHhIiJjKkLlMmNnOoPpQqRrSsTtUuVvWwXxYyZz  0123456789 !@#$%&amp;*().,;:?!"'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500000" y="60408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C50A0"/>
                </a:solidFill>
                <a:latin typeface="SimSun"/>
              </a:rPr>
              <a:t>有衬线体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80000" y="6534000"/>
            <a:ext cx="14760000" cy="10800"/>
          </a:xfrm>
          <a:prstGeom prst="rect">
            <a:avLst/>
          </a:prstGeom>
          <a:solidFill>
            <a:srgbClr val="D2C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80000" y="6552000"/>
            <a:ext cx="126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C3C3C"/>
                </a:solidFill>
                <a:latin typeface="Arial"/>
              </a:rPr>
              <a:t>26. Sabon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440000" y="6552000"/>
            <a:ext cx="1152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1E1E"/>
                </a:solidFill>
                <a:latin typeface="Georgia"/>
              </a:rPr>
              <a:t>AaBbCcDdEeFfGgHhIiJjKkLlMmNnOoPpQqRrSsTtUuVvWwXxYyZz  0123456789 !@#$%&amp;*().,;:?!"'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500000" y="66240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C50A0"/>
                </a:solidFill>
                <a:latin typeface="SimSun"/>
              </a:rPr>
              <a:t>有衬线体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0000" y="7117200"/>
            <a:ext cx="14760000" cy="10800"/>
          </a:xfrm>
          <a:prstGeom prst="rect">
            <a:avLst/>
          </a:prstGeom>
          <a:solidFill>
            <a:srgbClr val="D2C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80000" y="7135200"/>
            <a:ext cx="126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C3C3C"/>
                </a:solidFill>
                <a:latin typeface="Arial"/>
              </a:rPr>
              <a:t>27. Stempel Schneidler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440000" y="7135200"/>
            <a:ext cx="1152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1E1E"/>
                </a:solidFill>
                <a:latin typeface="Georgia"/>
              </a:rPr>
              <a:t>AaBbCcDdEeFfGgHhIiJjKkLlMmNnOoPpQqRrSsTtUuVvWwXxYyZz  0123456789 !@#$%&amp;*().,;:?!"'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500000" y="72072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C50A0"/>
                </a:solidFill>
                <a:latin typeface="SimSun"/>
              </a:rPr>
              <a:t>有衬线体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0000" y="7700400"/>
            <a:ext cx="14760000" cy="10800"/>
          </a:xfrm>
          <a:prstGeom prst="rect">
            <a:avLst/>
          </a:prstGeom>
          <a:solidFill>
            <a:srgbClr val="D2C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80000" y="7718400"/>
            <a:ext cx="126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C3C3C"/>
                </a:solidFill>
                <a:latin typeface="Arial"/>
              </a:rPr>
              <a:t>28. Times New Roman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40000" y="7718400"/>
            <a:ext cx="1152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1E1E"/>
                </a:solidFill>
                <a:latin typeface="Times New Roman"/>
              </a:rPr>
              <a:t>AaBbCcDdEeFfGgHhIiJjKkLlMmNnOoPpQqRrSsTtUuVvWwXxYyZz  0123456789 !@#$%&amp;*().,;:?!"'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3500000" y="77904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C50A0"/>
                </a:solidFill>
                <a:latin typeface="SimSun"/>
              </a:rPr>
              <a:t>有衬线体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80000" y="8283600"/>
            <a:ext cx="14760000" cy="10800"/>
          </a:xfrm>
          <a:prstGeom prst="rect">
            <a:avLst/>
          </a:prstGeom>
          <a:solidFill>
            <a:srgbClr val="D2C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80000" y="8301600"/>
            <a:ext cx="126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C3C3C"/>
                </a:solidFill>
                <a:latin typeface="Arial"/>
              </a:rPr>
              <a:t>29. Trajan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440000" y="8301600"/>
            <a:ext cx="1152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1E1E"/>
                </a:solidFill>
                <a:latin typeface="Georgia"/>
              </a:rPr>
              <a:t>AaBbCcDdEeFfGgHhIiJjKkLlMmNnOoPpQqRrSsTtUuVvWwXxYyZz  0123456789 !@#$%&amp;*().,;:?!"'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3500000" y="83736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C50A0"/>
                </a:solidFill>
                <a:latin typeface="SimSun"/>
              </a:rPr>
              <a:t>有衬线体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80000" y="8866800"/>
            <a:ext cx="14760000" cy="10800"/>
          </a:xfrm>
          <a:prstGeom prst="rect">
            <a:avLst/>
          </a:prstGeom>
          <a:solidFill>
            <a:srgbClr val="D2C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80000" y="8884800"/>
            <a:ext cx="126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C3C3C"/>
                </a:solidFill>
                <a:latin typeface="Arial"/>
              </a:rPr>
              <a:t>30. Modern No.20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440000" y="8884800"/>
            <a:ext cx="11520000" cy="58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1E1E"/>
                </a:solidFill>
                <a:latin typeface="Georgia"/>
              </a:rPr>
              <a:t>AaBbCcDdEeFfGgHhIiJjKkLlMmNnOoPpQqRrSsTtUuVvWwXxYyZz  0123456789 !@#$%&amp;*().,;:?!"'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3500000" y="89568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3C50A0"/>
                </a:solidFill>
                <a:latin typeface="SimSun"/>
              </a:rPr>
              <a:t>有衬线体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80000" y="9450000"/>
            <a:ext cx="14760000" cy="10800"/>
          </a:xfrm>
          <a:prstGeom prst="rect">
            <a:avLst/>
          </a:prstGeom>
          <a:solidFill>
            <a:srgbClr val="D2C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120000" cy="10692000"/>
          </a:xfrm>
          <a:prstGeom prst="rect">
            <a:avLst/>
          </a:prstGeom>
          <a:solidFill>
            <a:srgbClr val="FC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120000" cy="648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1296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DC96"/>
                </a:solidFill>
                <a:latin typeface="SimHei"/>
              </a:rPr>
              <a:t>07  汉字字体分类编排  ·  有衬线·无衬线·圆体·手写·古体·混合·展示·超类别</a:t>
            </a:r>
          </a:p>
        </p:txBody>
      </p:sp>
      <p:sp>
        <p:nvSpPr>
          <p:cNvPr id="5" name="Rectangle 4"/>
          <p:cNvSpPr/>
          <p:nvPr/>
        </p:nvSpPr>
        <p:spPr>
          <a:xfrm>
            <a:off x="288000" y="756000"/>
            <a:ext cx="6840000" cy="198000"/>
          </a:xfrm>
          <a:prstGeom prst="rect">
            <a:avLst/>
          </a:prstGeom>
          <a:solidFill>
            <a:srgbClr val="8C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774000"/>
            <a:ext cx="6732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SimHei"/>
              </a:rPr>
              <a:t>有衬线体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990000"/>
            <a:ext cx="1152000" cy="172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503C28"/>
                </a:solidFill>
                <a:latin typeface="SimSun"/>
              </a:rPr>
              <a:t>方正书宋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0000" y="990000"/>
            <a:ext cx="5688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1E1E"/>
                </a:solidFill>
                <a:latin typeface="SimSun"/>
              </a:rPr>
              <a:t>春风又绿江南岸，明月何时照我还。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241999"/>
            <a:ext cx="1152000" cy="172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503C28"/>
                </a:solidFill>
                <a:latin typeface="SimSun"/>
              </a:rPr>
              <a:t>方正仿宋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0000" y="1241999"/>
            <a:ext cx="5688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1E1E"/>
                </a:solidFill>
                <a:latin typeface="FangSong"/>
              </a:rPr>
              <a:t>床前明月光，疑是地上霜。举头望明月，低头思故乡。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00" y="1493998"/>
            <a:ext cx="1152000" cy="172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503C28"/>
                </a:solidFill>
                <a:latin typeface="SimSun"/>
              </a:rPr>
              <a:t>汉仪中宋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0000" y="1493998"/>
            <a:ext cx="5688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1E1E"/>
                </a:solidFill>
                <a:latin typeface="SimSun"/>
              </a:rPr>
              <a:t>大漠孤烟直，长河落日圆。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08000" y="756000"/>
            <a:ext cx="6840000" cy="198000"/>
          </a:xfrm>
          <a:prstGeom prst="rect">
            <a:avLst/>
          </a:prstGeom>
          <a:solidFill>
            <a:srgbClr val="1E5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80000" y="774000"/>
            <a:ext cx="6732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SimHei"/>
              </a:rPr>
              <a:t>无衬线体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08000" y="990000"/>
            <a:ext cx="1152000" cy="172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503C28"/>
                </a:solidFill>
                <a:latin typeface="SimSun"/>
              </a:rPr>
              <a:t>方正黑体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60000" y="990000"/>
            <a:ext cx="5688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1E1E"/>
                </a:solidFill>
                <a:latin typeface="SimHei"/>
              </a:rPr>
              <a:t>海内存知己，天涯若比邻。无为在歧路，儿女共沾巾。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8000" y="1241999"/>
            <a:ext cx="1152000" cy="172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503C28"/>
                </a:solidFill>
                <a:latin typeface="SimSun"/>
              </a:rPr>
              <a:t>汉仪黑体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60000" y="1241999"/>
            <a:ext cx="5688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1E1E"/>
                </a:solidFill>
                <a:latin typeface="SimHei"/>
              </a:rPr>
              <a:t>欲穷千里目，更上一层楼。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08000" y="1493998"/>
            <a:ext cx="1152000" cy="172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503C28"/>
                </a:solidFill>
                <a:latin typeface="SimSun"/>
              </a:rPr>
              <a:t>方正兰亭黑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60000" y="1493998"/>
            <a:ext cx="5688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1E1E"/>
                </a:solidFill>
                <a:latin typeface="Microsoft YaHei"/>
              </a:rPr>
              <a:t>会当凌绝顶，一览众山小。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8000" y="1925997"/>
            <a:ext cx="6840000" cy="198000"/>
          </a:xfrm>
          <a:prstGeom prst="rect">
            <a:avLst/>
          </a:prstGeom>
          <a:solidFill>
            <a:srgbClr val="1E82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0000" y="1943997"/>
            <a:ext cx="6732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SimHei"/>
              </a:rPr>
              <a:t>圆体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00" y="2159997"/>
            <a:ext cx="1152000" cy="172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503C28"/>
                </a:solidFill>
                <a:latin typeface="SimSun"/>
              </a:rPr>
              <a:t>方正圆体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40000" y="2159997"/>
            <a:ext cx="5688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1E1E"/>
                </a:solidFill>
                <a:latin typeface="Microsoft YaHei"/>
              </a:rPr>
              <a:t>黄河之水天上来，奔流到海不复回。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8000" y="2411996"/>
            <a:ext cx="1152000" cy="172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503C28"/>
                </a:solidFill>
                <a:latin typeface="SimSun"/>
              </a:rPr>
              <a:t>汉仪圆体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40000" y="2411996"/>
            <a:ext cx="5688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1E1E"/>
                </a:solidFill>
                <a:latin typeface="Microsoft YaHei"/>
              </a:rPr>
              <a:t>两岸猿声啼不住，轻舟已过万重山。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08000" y="2033997"/>
            <a:ext cx="6840000" cy="198000"/>
          </a:xfrm>
          <a:prstGeom prst="rect">
            <a:avLst/>
          </a:prstGeom>
          <a:solidFill>
            <a:srgbClr val="96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80000" y="2051997"/>
            <a:ext cx="6732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SimHei"/>
              </a:rPr>
              <a:t>手写体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08000" y="2267997"/>
            <a:ext cx="1152000" cy="172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503C28"/>
                </a:solidFill>
                <a:latin typeface="SimSun"/>
              </a:rPr>
              <a:t>方正行楷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60000" y="2267997"/>
            <a:ext cx="5688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1E1E"/>
                </a:solidFill>
                <a:latin typeface="KaiTi"/>
              </a:rPr>
              <a:t>问君能有几多愁，恰似一江春水向东流。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08000" y="2519996"/>
            <a:ext cx="1152000" cy="172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503C28"/>
                </a:solidFill>
                <a:latin typeface="SimSun"/>
              </a:rPr>
              <a:t>汉仪行楷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60000" y="2519996"/>
            <a:ext cx="5688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1E1E"/>
                </a:solidFill>
                <a:latin typeface="KaiTi"/>
              </a:rPr>
              <a:t>天生我材必有用，千金散尽还复来。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88000" y="2951995"/>
            <a:ext cx="6840000" cy="198000"/>
          </a:xfrm>
          <a:prstGeom prst="rect">
            <a:avLst/>
          </a:prstGeom>
          <a:solidFill>
            <a:srgbClr val="643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0000" y="2969995"/>
            <a:ext cx="6732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SimHei"/>
              </a:rPr>
              <a:t>古体／过渡体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8000" y="3185995"/>
            <a:ext cx="1152000" cy="172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503C28"/>
                </a:solidFill>
                <a:latin typeface="SimSun"/>
              </a:rPr>
              <a:t>方正楷体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40000" y="3185995"/>
            <a:ext cx="5688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1E1E"/>
                </a:solidFill>
                <a:latin typeface="KaiTi"/>
              </a:rPr>
              <a:t>但愿人长久，千里共婵娟。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8000" y="3437994"/>
            <a:ext cx="1152000" cy="172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503C28"/>
                </a:solidFill>
                <a:latin typeface="SimSun"/>
              </a:rPr>
              <a:t>文鼎隶书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40000" y="3437994"/>
            <a:ext cx="5688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1E1E"/>
                </a:solidFill>
                <a:latin typeface="STKaiti"/>
              </a:rPr>
              <a:t>落霞与孤鹜齐飞，秋水共长天一色。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08000" y="3059995"/>
            <a:ext cx="6840000" cy="198000"/>
          </a:xfrm>
          <a:prstGeom prst="rect">
            <a:avLst/>
          </a:prstGeom>
          <a:solidFill>
            <a:srgbClr val="3C7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80000" y="3077995"/>
            <a:ext cx="6732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SimHei"/>
              </a:rPr>
              <a:t>混合体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08000" y="3293995"/>
            <a:ext cx="1152000" cy="172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503C28"/>
                </a:solidFill>
                <a:latin typeface="SimSun"/>
              </a:rPr>
              <a:t>方正综艺体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60000" y="3293995"/>
            <a:ext cx="5688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1E1E"/>
                </a:solidFill>
                <a:latin typeface="STXingkai"/>
              </a:rPr>
              <a:t>桃花潭水深千尺，不及汪伦送我情。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88000" y="3725994"/>
            <a:ext cx="6840000" cy="198000"/>
          </a:xfrm>
          <a:prstGeom prst="rect">
            <a:avLst/>
          </a:prstGeom>
          <a:solidFill>
            <a:srgbClr val="A03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000" y="3743994"/>
            <a:ext cx="6732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SimHei"/>
              </a:rPr>
              <a:t>展示体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8000" y="3959994"/>
            <a:ext cx="1152000" cy="172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503C28"/>
                </a:solidFill>
                <a:latin typeface="SimSun"/>
              </a:rPr>
              <a:t>方正综艺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440000" y="3959994"/>
            <a:ext cx="5688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1E1E"/>
                </a:solidFill>
                <a:latin typeface="STXingkai"/>
              </a:rPr>
              <a:t>横看成岭侧成峰，远近高低各不同。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8000" y="4211993"/>
            <a:ext cx="1152000" cy="172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503C28"/>
                </a:solidFill>
                <a:latin typeface="SimSun"/>
              </a:rPr>
              <a:t>汉仪综艺体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40000" y="4211993"/>
            <a:ext cx="5688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1E1E"/>
                </a:solidFill>
                <a:latin typeface="STXingkai"/>
              </a:rPr>
              <a:t>不识庐山真面目，只缘身在此山中。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308000" y="3833994"/>
            <a:ext cx="6840000" cy="198000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80000" y="3851994"/>
            <a:ext cx="6732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SimHei"/>
              </a:rPr>
              <a:t>超类别体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08000" y="4067994"/>
            <a:ext cx="1152000" cy="172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503C28"/>
                </a:solidFill>
                <a:latin typeface="SimSun"/>
              </a:rPr>
              <a:t>方正超粗黑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60000" y="4067994"/>
            <a:ext cx="5688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1E1E"/>
                </a:solidFill>
                <a:latin typeface="SimHei"/>
              </a:rPr>
              <a:t>羌笛何须怨杨柳，春风不度玉门关。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08000" y="4319993"/>
            <a:ext cx="1152000" cy="172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503C28"/>
                </a:solidFill>
                <a:latin typeface="SimSun"/>
              </a:rPr>
              <a:t>汉仪超黑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60000" y="4319993"/>
            <a:ext cx="5688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1E1E"/>
                </a:solidFill>
                <a:latin typeface="SimHei"/>
              </a:rPr>
              <a:t>黄沙百战穿金甲，不破楼兰终不还。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0000" y="9540000"/>
            <a:ext cx="144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878"/>
                </a:solidFill>
                <a:latin typeface="SimSun"/>
              </a:rPr>
              <a:t>字库资源参考：方正字库 / 汉仪字库 / 文鼎字库  ·  示例文本选自中国古典诗词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120000" cy="10692000"/>
          </a:xfrm>
          <a:prstGeom prst="rect">
            <a:avLst/>
          </a:prstGeom>
          <a:solidFill>
            <a:srgbClr val="FC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120000" cy="648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136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DC96"/>
                </a:solidFill>
                <a:latin typeface="SimHei"/>
              </a:rPr>
              <a:t>08  宋体·黑体·圆体 字号规范表  +  常用拉丁体（6款）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0000" y="720000"/>
            <a:ext cx="1584000" cy="216000"/>
          </a:xfrm>
          <a:prstGeom prst="rect">
            <a:avLst/>
          </a:prstGeom>
          <a:solidFill>
            <a:srgbClr val="323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6000" y="738000"/>
            <a:ext cx="1512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imHei"/>
              </a:rPr>
              <a:t>号数</a:t>
            </a:r>
          </a:p>
        </p:txBody>
      </p:sp>
      <p:sp>
        <p:nvSpPr>
          <p:cNvPr id="7" name="Rectangle 6"/>
          <p:cNvSpPr/>
          <p:nvPr/>
        </p:nvSpPr>
        <p:spPr>
          <a:xfrm>
            <a:off x="648000" y="720000"/>
            <a:ext cx="1584000" cy="216000"/>
          </a:xfrm>
          <a:prstGeom prst="rect">
            <a:avLst/>
          </a:prstGeom>
          <a:solidFill>
            <a:srgbClr val="323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4000" y="738000"/>
            <a:ext cx="1512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imHei"/>
              </a:rPr>
              <a:t>pt值</a:t>
            </a:r>
          </a:p>
        </p:txBody>
      </p:sp>
      <p:sp>
        <p:nvSpPr>
          <p:cNvPr id="9" name="Rectangle 8"/>
          <p:cNvSpPr/>
          <p:nvPr/>
        </p:nvSpPr>
        <p:spPr>
          <a:xfrm>
            <a:off x="1152000" y="720000"/>
            <a:ext cx="1584000" cy="216000"/>
          </a:xfrm>
          <a:prstGeom prst="rect">
            <a:avLst/>
          </a:prstGeom>
          <a:solidFill>
            <a:srgbClr val="323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000" y="738000"/>
            <a:ext cx="1512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imHei"/>
              </a:rPr>
              <a:t>宋体 SimSun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08000" y="720000"/>
            <a:ext cx="1584000" cy="216000"/>
          </a:xfrm>
          <a:prstGeom prst="rect">
            <a:avLst/>
          </a:prstGeom>
          <a:solidFill>
            <a:srgbClr val="323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44000" y="738000"/>
            <a:ext cx="1512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imHei"/>
              </a:rPr>
              <a:t>黑体 SimHei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64000" y="720000"/>
            <a:ext cx="1584000" cy="216000"/>
          </a:xfrm>
          <a:prstGeom prst="rect">
            <a:avLst/>
          </a:prstGeom>
          <a:solidFill>
            <a:srgbClr val="323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00000" y="738000"/>
            <a:ext cx="1512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imHei"/>
              </a:rPr>
              <a:t>圆体 YaHei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0000" y="720000"/>
            <a:ext cx="1584000" cy="216000"/>
          </a:xfrm>
          <a:prstGeom prst="rect">
            <a:avLst/>
          </a:prstGeom>
          <a:solidFill>
            <a:srgbClr val="323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6000" y="738000"/>
            <a:ext cx="1512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imHei"/>
              </a:rPr>
              <a:t>字形示例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0000" y="972000"/>
            <a:ext cx="7380000" cy="540000"/>
          </a:xfrm>
          <a:prstGeom prst="rect">
            <a:avLst/>
          </a:prstGeom>
          <a:solidFill>
            <a:srgbClr val="F5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0000" y="1080000"/>
            <a:ext cx="432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503C1E"/>
                </a:solidFill>
                <a:latin typeface="SimHei"/>
              </a:rPr>
              <a:t>初号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000" y="1080000"/>
            <a:ext cx="46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05050"/>
                </a:solidFill>
                <a:latin typeface="Arial"/>
              </a:rPr>
              <a:t>42pt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000" y="990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C2814"/>
                </a:solidFill>
                <a:latin typeface="SimSun"/>
              </a:rPr>
              <a:t>永字八法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44000" y="990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42850"/>
                </a:solidFill>
                <a:latin typeface="SimHei"/>
              </a:rPr>
              <a:t>永字八法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00000" y="990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46446"/>
                </a:solidFill>
                <a:latin typeface="Microsoft YaHei"/>
              </a:rPr>
              <a:t>永字八法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0000" y="1530000"/>
            <a:ext cx="7380000" cy="540000"/>
          </a:xfrm>
          <a:prstGeom prst="rect">
            <a:avLst/>
          </a:prstGeom>
          <a:solidFill>
            <a:srgbClr val="FF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0000" y="1638000"/>
            <a:ext cx="432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503C1E"/>
                </a:solidFill>
                <a:latin typeface="SimHei"/>
              </a:rPr>
              <a:t>小初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000" y="1638000"/>
            <a:ext cx="46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05050"/>
                </a:solidFill>
                <a:latin typeface="Arial"/>
              </a:rPr>
              <a:t>36pt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000" y="1548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C2814"/>
                </a:solidFill>
                <a:latin typeface="SimSun"/>
              </a:rPr>
              <a:t>永字八法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44000" y="1548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42850"/>
                </a:solidFill>
                <a:latin typeface="SimHei"/>
              </a:rPr>
              <a:t>永字八法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00000" y="1548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46446"/>
                </a:solidFill>
                <a:latin typeface="Microsoft YaHei"/>
              </a:rPr>
              <a:t>永字八法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80000" y="2088000"/>
            <a:ext cx="7380000" cy="540000"/>
          </a:xfrm>
          <a:prstGeom prst="rect">
            <a:avLst/>
          </a:prstGeom>
          <a:solidFill>
            <a:srgbClr val="F5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80000" y="2196000"/>
            <a:ext cx="432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503C1E"/>
                </a:solidFill>
                <a:latin typeface="SimHei"/>
              </a:rPr>
              <a:t>一号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000" y="2196000"/>
            <a:ext cx="46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05050"/>
                </a:solidFill>
                <a:latin typeface="Arial"/>
              </a:rPr>
              <a:t>26pt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000" y="2106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C2814"/>
                </a:solidFill>
                <a:latin typeface="SimSun"/>
              </a:rPr>
              <a:t>永字八法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44000" y="2106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42850"/>
                </a:solidFill>
                <a:latin typeface="SimHei"/>
              </a:rPr>
              <a:t>永字八法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00000" y="2106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46446"/>
                </a:solidFill>
                <a:latin typeface="Microsoft YaHei"/>
              </a:rPr>
              <a:t>永字八法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0000" y="2646000"/>
            <a:ext cx="7380000" cy="540000"/>
          </a:xfrm>
          <a:prstGeom prst="rect">
            <a:avLst/>
          </a:prstGeom>
          <a:solidFill>
            <a:srgbClr val="FF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80000" y="2754000"/>
            <a:ext cx="432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503C1E"/>
                </a:solidFill>
                <a:latin typeface="SimHei"/>
              </a:rPr>
              <a:t>小一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8000" y="2754000"/>
            <a:ext cx="46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05050"/>
                </a:solidFill>
                <a:latin typeface="Arial"/>
              </a:rPr>
              <a:t>24pt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000" y="2664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C2814"/>
                </a:solidFill>
                <a:latin typeface="SimSun"/>
              </a:rPr>
              <a:t>永字八法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44000" y="2664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42850"/>
                </a:solidFill>
                <a:latin typeface="SimHei"/>
              </a:rPr>
              <a:t>永字八法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00000" y="2664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46446"/>
                </a:solidFill>
                <a:latin typeface="Microsoft YaHei"/>
              </a:rPr>
              <a:t>永字八法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80000" y="3204000"/>
            <a:ext cx="7380000" cy="540000"/>
          </a:xfrm>
          <a:prstGeom prst="rect">
            <a:avLst/>
          </a:prstGeom>
          <a:solidFill>
            <a:srgbClr val="F5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80000" y="3312000"/>
            <a:ext cx="432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503C1E"/>
                </a:solidFill>
                <a:latin typeface="SimHei"/>
              </a:rPr>
              <a:t>二号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8000" y="3312000"/>
            <a:ext cx="46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05050"/>
                </a:solidFill>
                <a:latin typeface="Arial"/>
              </a:rPr>
              <a:t>22pt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88000" y="3222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C2814"/>
                </a:solidFill>
                <a:latin typeface="SimSun"/>
              </a:rPr>
              <a:t>永字八法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4000" y="3222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42850"/>
                </a:solidFill>
                <a:latin typeface="SimHei"/>
              </a:rPr>
              <a:t>永字八法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00000" y="3222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46446"/>
                </a:solidFill>
                <a:latin typeface="Microsoft YaHei"/>
              </a:rPr>
              <a:t>永字八法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80000" y="3762000"/>
            <a:ext cx="7380000" cy="540000"/>
          </a:xfrm>
          <a:prstGeom prst="rect">
            <a:avLst/>
          </a:prstGeom>
          <a:solidFill>
            <a:srgbClr val="FF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80000" y="3870000"/>
            <a:ext cx="432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503C1E"/>
                </a:solidFill>
                <a:latin typeface="SimHei"/>
              </a:rPr>
              <a:t>小二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8000" y="3870000"/>
            <a:ext cx="46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05050"/>
                </a:solidFill>
                <a:latin typeface="Arial"/>
              </a:rPr>
              <a:t>18pt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88000" y="3780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C2814"/>
                </a:solidFill>
                <a:latin typeface="SimSun"/>
              </a:rPr>
              <a:t>永字八法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44000" y="3780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42850"/>
                </a:solidFill>
                <a:latin typeface="SimHei"/>
              </a:rPr>
              <a:t>永字八法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00000" y="3780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46446"/>
                </a:solidFill>
                <a:latin typeface="Microsoft YaHei"/>
              </a:rPr>
              <a:t>永字八法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80000" y="4320000"/>
            <a:ext cx="7380000" cy="540000"/>
          </a:xfrm>
          <a:prstGeom prst="rect">
            <a:avLst/>
          </a:prstGeom>
          <a:solidFill>
            <a:srgbClr val="F5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80000" y="4428000"/>
            <a:ext cx="432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503C1E"/>
                </a:solidFill>
                <a:latin typeface="SimHei"/>
              </a:rPr>
              <a:t>三号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8000" y="4428000"/>
            <a:ext cx="46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05050"/>
                </a:solidFill>
                <a:latin typeface="Arial"/>
              </a:rPr>
              <a:t>16pt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88000" y="4338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C2814"/>
                </a:solidFill>
                <a:latin typeface="SimSun"/>
              </a:rPr>
              <a:t>永字八法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844000" y="4338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42850"/>
                </a:solidFill>
                <a:latin typeface="SimHei"/>
              </a:rPr>
              <a:t>永字八法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00000" y="4338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46446"/>
                </a:solidFill>
                <a:latin typeface="Microsoft YaHei"/>
              </a:rPr>
              <a:t>永字八法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80000" y="4878000"/>
            <a:ext cx="7380000" cy="540000"/>
          </a:xfrm>
          <a:prstGeom prst="rect">
            <a:avLst/>
          </a:prstGeom>
          <a:solidFill>
            <a:srgbClr val="FF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80000" y="4986000"/>
            <a:ext cx="432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503C1E"/>
                </a:solidFill>
                <a:latin typeface="SimHei"/>
              </a:rPr>
              <a:t>小三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8000" y="4986000"/>
            <a:ext cx="46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05050"/>
                </a:solidFill>
                <a:latin typeface="Arial"/>
              </a:rPr>
              <a:t>15pt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88000" y="4896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C2814"/>
                </a:solidFill>
                <a:latin typeface="SimSun"/>
              </a:rPr>
              <a:t>永字八法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44000" y="4896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42850"/>
                </a:solidFill>
                <a:latin typeface="SimHei"/>
              </a:rPr>
              <a:t>永字八法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00000" y="4896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46446"/>
                </a:solidFill>
                <a:latin typeface="Microsoft YaHei"/>
              </a:rPr>
              <a:t>永字八法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80000" y="5436000"/>
            <a:ext cx="7380000" cy="540000"/>
          </a:xfrm>
          <a:prstGeom prst="rect">
            <a:avLst/>
          </a:prstGeom>
          <a:solidFill>
            <a:srgbClr val="F5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80000" y="5544000"/>
            <a:ext cx="432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503C1E"/>
                </a:solidFill>
                <a:latin typeface="SimHei"/>
              </a:rPr>
              <a:t>四号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8000" y="5544000"/>
            <a:ext cx="46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05050"/>
                </a:solidFill>
                <a:latin typeface="Arial"/>
              </a:rPr>
              <a:t>14pt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88000" y="5454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C2814"/>
                </a:solidFill>
                <a:latin typeface="SimSun"/>
              </a:rPr>
              <a:t>永字八法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44000" y="5454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42850"/>
                </a:solidFill>
                <a:latin typeface="SimHei"/>
              </a:rPr>
              <a:t>永字八法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00000" y="5454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46446"/>
                </a:solidFill>
                <a:latin typeface="Microsoft YaHei"/>
              </a:rPr>
              <a:t>永字八法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80000" y="5994000"/>
            <a:ext cx="7380000" cy="540000"/>
          </a:xfrm>
          <a:prstGeom prst="rect">
            <a:avLst/>
          </a:prstGeom>
          <a:solidFill>
            <a:srgbClr val="FF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80000" y="6102000"/>
            <a:ext cx="432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503C1E"/>
                </a:solidFill>
                <a:latin typeface="SimHei"/>
              </a:rPr>
              <a:t>小四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8000" y="6102000"/>
            <a:ext cx="46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05050"/>
                </a:solidFill>
                <a:latin typeface="Arial"/>
              </a:rPr>
              <a:t>12pt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88000" y="6012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C2814"/>
                </a:solidFill>
                <a:latin typeface="SimSun"/>
              </a:rPr>
              <a:t>永字八法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844000" y="6012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42850"/>
                </a:solidFill>
                <a:latin typeface="SimHei"/>
              </a:rPr>
              <a:t>永字八法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00000" y="6012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46446"/>
                </a:solidFill>
                <a:latin typeface="Microsoft YaHei"/>
              </a:rPr>
              <a:t>永字八法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80000" y="6552000"/>
            <a:ext cx="7380000" cy="540000"/>
          </a:xfrm>
          <a:prstGeom prst="rect">
            <a:avLst/>
          </a:prstGeom>
          <a:solidFill>
            <a:srgbClr val="F5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80000" y="6660000"/>
            <a:ext cx="432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503C1E"/>
                </a:solidFill>
                <a:latin typeface="SimHei"/>
              </a:rPr>
              <a:t>五号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8000" y="6660000"/>
            <a:ext cx="46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05050"/>
                </a:solidFill>
                <a:latin typeface="Arial"/>
              </a:rPr>
              <a:t>10.5pt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88000" y="6570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C2814"/>
                </a:solidFill>
                <a:latin typeface="SimSun"/>
              </a:rPr>
              <a:t>永字八法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844000" y="6570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42850"/>
                </a:solidFill>
                <a:latin typeface="SimHei"/>
              </a:rPr>
              <a:t>永字八法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00000" y="6570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46446"/>
                </a:solidFill>
                <a:latin typeface="Microsoft YaHei"/>
              </a:rPr>
              <a:t>永字八法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80000" y="7110000"/>
            <a:ext cx="7380000" cy="540000"/>
          </a:xfrm>
          <a:prstGeom prst="rect">
            <a:avLst/>
          </a:prstGeom>
          <a:solidFill>
            <a:srgbClr val="FF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80000" y="7218000"/>
            <a:ext cx="432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503C1E"/>
                </a:solidFill>
                <a:latin typeface="SimHei"/>
              </a:rPr>
              <a:t>小五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48000" y="7218000"/>
            <a:ext cx="46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05050"/>
                </a:solidFill>
                <a:latin typeface="Arial"/>
              </a:rPr>
              <a:t>9pt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88000" y="7128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C2814"/>
                </a:solidFill>
                <a:latin typeface="SimSun"/>
              </a:rPr>
              <a:t>永字八法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844000" y="7128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42850"/>
                </a:solidFill>
                <a:latin typeface="SimHei"/>
              </a:rPr>
              <a:t>永字八法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500000" y="7128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46446"/>
                </a:solidFill>
                <a:latin typeface="Microsoft YaHei"/>
              </a:rPr>
              <a:t>永字八法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80000" y="7668000"/>
            <a:ext cx="7380000" cy="540000"/>
          </a:xfrm>
          <a:prstGeom prst="rect">
            <a:avLst/>
          </a:prstGeom>
          <a:solidFill>
            <a:srgbClr val="F5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80000" y="7776000"/>
            <a:ext cx="432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503C1E"/>
                </a:solidFill>
                <a:latin typeface="SimHei"/>
              </a:rPr>
              <a:t>六号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48000" y="7776000"/>
            <a:ext cx="46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05050"/>
                </a:solidFill>
                <a:latin typeface="Arial"/>
              </a:rPr>
              <a:t>7.5pt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188000" y="7686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C2814"/>
                </a:solidFill>
                <a:latin typeface="SimSun"/>
              </a:rPr>
              <a:t>永字八法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844000" y="7686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42850"/>
                </a:solidFill>
                <a:latin typeface="SimHei"/>
              </a:rPr>
              <a:t>永字八法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500000" y="7686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46446"/>
                </a:solidFill>
                <a:latin typeface="Microsoft YaHei"/>
              </a:rPr>
              <a:t>永字八法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80000" y="8226000"/>
            <a:ext cx="7380000" cy="540000"/>
          </a:xfrm>
          <a:prstGeom prst="rect">
            <a:avLst/>
          </a:prstGeom>
          <a:solidFill>
            <a:srgbClr val="FF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80000" y="8334000"/>
            <a:ext cx="432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503C1E"/>
                </a:solidFill>
                <a:latin typeface="SimHei"/>
              </a:rPr>
              <a:t>小六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48000" y="8334000"/>
            <a:ext cx="46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05050"/>
                </a:solidFill>
                <a:latin typeface="Arial"/>
              </a:rPr>
              <a:t>6.5pt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188000" y="8244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3C2814"/>
                </a:solidFill>
                <a:latin typeface="SimSun"/>
              </a:rPr>
              <a:t>永字八法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844000" y="8244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142850"/>
                </a:solidFill>
                <a:latin typeface="SimHei"/>
              </a:rPr>
              <a:t>永字八法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500000" y="8244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146446"/>
                </a:solidFill>
                <a:latin typeface="Microsoft YaHei"/>
              </a:rPr>
              <a:t>永字八法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80000" y="8784000"/>
            <a:ext cx="7380000" cy="540000"/>
          </a:xfrm>
          <a:prstGeom prst="rect">
            <a:avLst/>
          </a:prstGeom>
          <a:solidFill>
            <a:srgbClr val="F5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80000" y="8892000"/>
            <a:ext cx="432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503C1E"/>
                </a:solidFill>
                <a:latin typeface="SimHei"/>
              </a:rPr>
              <a:t>七号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48000" y="8892000"/>
            <a:ext cx="46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05050"/>
                </a:solidFill>
                <a:latin typeface="Arial"/>
              </a:rPr>
              <a:t>5.5pt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88000" y="8802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0" i="0">
                <a:solidFill>
                  <a:srgbClr val="3C2814"/>
                </a:solidFill>
                <a:latin typeface="SimSun"/>
              </a:rPr>
              <a:t>永字八法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844000" y="8802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0" i="0">
                <a:solidFill>
                  <a:srgbClr val="142850"/>
                </a:solidFill>
                <a:latin typeface="SimHei"/>
              </a:rPr>
              <a:t>永字八法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500000" y="8802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0" i="0">
                <a:solidFill>
                  <a:srgbClr val="146446"/>
                </a:solidFill>
                <a:latin typeface="Microsoft YaHei"/>
              </a:rPr>
              <a:t>永字八法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80000" y="9342000"/>
            <a:ext cx="7380000" cy="540000"/>
          </a:xfrm>
          <a:prstGeom prst="rect">
            <a:avLst/>
          </a:prstGeom>
          <a:solidFill>
            <a:srgbClr val="FF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80000" y="9450000"/>
            <a:ext cx="432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503C1E"/>
                </a:solidFill>
                <a:latin typeface="SimHei"/>
              </a:rPr>
              <a:t>八号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48000" y="9450000"/>
            <a:ext cx="46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05050"/>
                </a:solidFill>
                <a:latin typeface="Arial"/>
              </a:rPr>
              <a:t>5pt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188000" y="9360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" b="0" i="0">
                <a:solidFill>
                  <a:srgbClr val="3C2814"/>
                </a:solidFill>
                <a:latin typeface="SimSun"/>
              </a:rPr>
              <a:t>永字八法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844000" y="9360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" b="0" i="0">
                <a:solidFill>
                  <a:srgbClr val="142850"/>
                </a:solidFill>
                <a:latin typeface="SimHei"/>
              </a:rPr>
              <a:t>永字八法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500000" y="9360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" b="0" i="0">
                <a:solidFill>
                  <a:srgbClr val="146446"/>
                </a:solidFill>
                <a:latin typeface="Microsoft YaHei"/>
              </a:rPr>
              <a:t>永字八法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740000" y="720000"/>
            <a:ext cx="68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23232"/>
                </a:solidFill>
                <a:latin typeface="SimHei"/>
              </a:rPr>
              <a:t>常用拉丁字体字号对照（6款）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740000" y="972000"/>
            <a:ext cx="1080000" cy="198000"/>
          </a:xfrm>
          <a:prstGeom prst="rect">
            <a:avLst/>
          </a:prstGeom>
          <a:solidFill>
            <a:srgbClr val="824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776000" y="990000"/>
            <a:ext cx="104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Arial"/>
              </a:rPr>
              <a:t>Times New Roman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740000" y="12060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0" i="0">
                <a:solidFill>
                  <a:srgbClr val="1E1E1E"/>
                </a:solidFill>
                <a:latin typeface="Times New Roman"/>
              </a:rPr>
              <a:t>6pt
Abc Xyz 123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740000" y="17388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E1E1E"/>
                </a:solidFill>
                <a:latin typeface="Times New Roman"/>
              </a:rPr>
              <a:t>7pt
Abc Xyz 123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740000" y="22716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1E1E"/>
                </a:solidFill>
                <a:latin typeface="Times New Roman"/>
              </a:rPr>
              <a:t>8pt
Abc Xyz 123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740000" y="28044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1E1E"/>
                </a:solidFill>
                <a:latin typeface="Times New Roman"/>
              </a:rPr>
              <a:t>9pt
Abc Xyz 123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740000" y="33372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1E1E"/>
                </a:solidFill>
                <a:latin typeface="Times New Roman"/>
              </a:rPr>
              <a:t>10pt
Abc Xyz 123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740000" y="38700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1E1E"/>
                </a:solidFill>
                <a:latin typeface="Times New Roman"/>
              </a:rPr>
              <a:t>11pt
Abc Xyz 123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740000" y="44028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1E1E"/>
                </a:solidFill>
                <a:latin typeface="Times New Roman"/>
              </a:rPr>
              <a:t>12pt
Abc Xyz 123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740000" y="49356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Times New Roman"/>
              </a:rPr>
              <a:t>14pt
Abc Xyz 123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740000" y="54684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Times New Roman"/>
              </a:rPr>
              <a:t>16pt
Abc Xyz 123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740000" y="60012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Times New Roman"/>
              </a:rPr>
              <a:t>18pt
Abc Xyz 123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740000" y="65340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Times New Roman"/>
              </a:rPr>
              <a:t>20pt
Abc Xyz 123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740000" y="70668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Times New Roman"/>
              </a:rPr>
              <a:t>24pt
Abc Xyz 123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740000" y="75996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Times New Roman"/>
              </a:rPr>
              <a:t>28pt
Abc Xyz 123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740000" y="81324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Times New Roman"/>
              </a:rPr>
              <a:t>32pt
Abc Xyz 123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740000" y="86652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Times New Roman"/>
              </a:rPr>
              <a:t>36pt
Abc Xyz 123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740000" y="91980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Times New Roman"/>
              </a:rPr>
              <a:t>42pt
Abc Xyz 123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8892000" y="972000"/>
            <a:ext cx="1080000" cy="198000"/>
          </a:xfrm>
          <a:prstGeom prst="rect">
            <a:avLst/>
          </a:prstGeom>
          <a:solidFill>
            <a:srgbClr val="824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8928000" y="990000"/>
            <a:ext cx="104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Arial"/>
              </a:rPr>
              <a:t>Garamond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892000" y="12060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0" i="0">
                <a:solidFill>
                  <a:srgbClr val="1E1E1E"/>
                </a:solidFill>
                <a:latin typeface="Garamond"/>
              </a:rPr>
              <a:t>6pt
Abc Xyz 123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892000" y="17388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E1E1E"/>
                </a:solidFill>
                <a:latin typeface="Garamond"/>
              </a:rPr>
              <a:t>7pt
Abc Xyz 123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892000" y="22716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1E1E"/>
                </a:solidFill>
                <a:latin typeface="Garamond"/>
              </a:rPr>
              <a:t>8pt
Abc Xyz 123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892000" y="28044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1E1E"/>
                </a:solidFill>
                <a:latin typeface="Garamond"/>
              </a:rPr>
              <a:t>9pt
Abc Xyz 123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892000" y="33372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1E1E"/>
                </a:solidFill>
                <a:latin typeface="Garamond"/>
              </a:rPr>
              <a:t>10pt
Abc Xyz 123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892000" y="38700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1E1E"/>
                </a:solidFill>
                <a:latin typeface="Garamond"/>
              </a:rPr>
              <a:t>11pt
Abc Xyz 123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892000" y="44028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1E1E"/>
                </a:solidFill>
                <a:latin typeface="Garamond"/>
              </a:rPr>
              <a:t>12pt
Abc Xyz 123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892000" y="49356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Garamond"/>
              </a:rPr>
              <a:t>14pt
Abc Xyz 123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892000" y="54684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Garamond"/>
              </a:rPr>
              <a:t>16pt
Abc Xyz 123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892000" y="60012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Garamond"/>
              </a:rPr>
              <a:t>18pt
Abc Xyz 123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892000" y="65340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Garamond"/>
              </a:rPr>
              <a:t>20pt
Abc Xyz 123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892000" y="70668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Garamond"/>
              </a:rPr>
              <a:t>24pt
Abc Xyz 123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892000" y="75996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Garamond"/>
              </a:rPr>
              <a:t>28pt
Abc Xyz 123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892000" y="81324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Garamond"/>
              </a:rPr>
              <a:t>32pt
Abc Xyz 123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8892000" y="86652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Garamond"/>
              </a:rPr>
              <a:t>36pt
Abc Xyz 123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892000" y="91980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Garamond"/>
              </a:rPr>
              <a:t>42pt
Abc Xyz 123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10044000" y="972000"/>
            <a:ext cx="1080000" cy="198000"/>
          </a:xfrm>
          <a:prstGeom prst="rect">
            <a:avLst/>
          </a:prstGeom>
          <a:solidFill>
            <a:srgbClr val="824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0080000" y="990000"/>
            <a:ext cx="104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Arial"/>
              </a:rPr>
              <a:t>Bodoni MT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044000" y="12060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0" i="0">
                <a:solidFill>
                  <a:srgbClr val="1E1E1E"/>
                </a:solidFill>
                <a:latin typeface="Bodoni MT"/>
              </a:rPr>
              <a:t>6pt
Abc Xyz 123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44000" y="17388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E1E1E"/>
                </a:solidFill>
                <a:latin typeface="Bodoni MT"/>
              </a:rPr>
              <a:t>7pt
Abc Xyz 123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044000" y="22716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1E1E"/>
                </a:solidFill>
                <a:latin typeface="Bodoni MT"/>
              </a:rPr>
              <a:t>8pt
Abc Xyz 123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044000" y="28044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1E1E"/>
                </a:solidFill>
                <a:latin typeface="Bodoni MT"/>
              </a:rPr>
              <a:t>9pt
Abc Xyz 123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044000" y="33372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1E1E"/>
                </a:solidFill>
                <a:latin typeface="Bodoni MT"/>
              </a:rPr>
              <a:t>10pt
Abc Xyz 123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044000" y="38700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1E1E"/>
                </a:solidFill>
                <a:latin typeface="Bodoni MT"/>
              </a:rPr>
              <a:t>11pt
Abc Xyz 123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044000" y="44028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1E1E"/>
                </a:solidFill>
                <a:latin typeface="Bodoni MT"/>
              </a:rPr>
              <a:t>12pt
Abc Xyz 123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0044000" y="49356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Bodoni MT"/>
              </a:rPr>
              <a:t>14pt
Abc Xyz 123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044000" y="54684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Bodoni MT"/>
              </a:rPr>
              <a:t>16pt
Abc Xyz 123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44000" y="60012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Bodoni MT"/>
              </a:rPr>
              <a:t>18pt
Abc Xyz 123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044000" y="65340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Bodoni MT"/>
              </a:rPr>
              <a:t>20pt
Abc Xyz 123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044000" y="70668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Bodoni MT"/>
              </a:rPr>
              <a:t>24pt
Abc Xyz 123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044000" y="75996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Bodoni MT"/>
              </a:rPr>
              <a:t>28pt
Abc Xyz 123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0044000" y="81324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Bodoni MT"/>
              </a:rPr>
              <a:t>32pt
Abc Xyz 123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0044000" y="86652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Bodoni MT"/>
              </a:rPr>
              <a:t>36pt
Abc Xyz 123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044000" y="91980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Bodoni MT"/>
              </a:rPr>
              <a:t>42pt
Abc Xyz 123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11196000" y="972000"/>
            <a:ext cx="1080000" cy="198000"/>
          </a:xfrm>
          <a:prstGeom prst="rect">
            <a:avLst/>
          </a:prstGeom>
          <a:solidFill>
            <a:srgbClr val="464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11232000" y="990000"/>
            <a:ext cx="104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Arial"/>
              </a:rPr>
              <a:t>Helvetica/Arial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196000" y="12060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0" i="0">
                <a:solidFill>
                  <a:srgbClr val="1E1E1E"/>
                </a:solidFill>
                <a:latin typeface="Arial"/>
              </a:rPr>
              <a:t>6pt
Abc Xyz 123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196000" y="17388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E1E1E"/>
                </a:solidFill>
                <a:latin typeface="Arial"/>
              </a:rPr>
              <a:t>7pt
Abc Xyz 123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1196000" y="22716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1E1E"/>
                </a:solidFill>
                <a:latin typeface="Arial"/>
              </a:rPr>
              <a:t>8pt
Abc Xyz 123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1196000" y="28044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1E1E"/>
                </a:solidFill>
                <a:latin typeface="Arial"/>
              </a:rPr>
              <a:t>9pt
Abc Xyz 123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1196000" y="33372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1E1E"/>
                </a:solidFill>
                <a:latin typeface="Arial"/>
              </a:rPr>
              <a:t>10pt
Abc Xyz 123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1196000" y="38700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1E1E"/>
                </a:solidFill>
                <a:latin typeface="Arial"/>
              </a:rPr>
              <a:t>11pt
Abc Xyz 123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1196000" y="44028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1E1E"/>
                </a:solidFill>
                <a:latin typeface="Arial"/>
              </a:rPr>
              <a:t>12pt
Abc Xyz 123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196000" y="49356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Arial"/>
              </a:rPr>
              <a:t>14pt
Abc Xyz 123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1196000" y="54684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Arial"/>
              </a:rPr>
              <a:t>16pt
Abc Xyz 123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196000" y="60012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Arial"/>
              </a:rPr>
              <a:t>18pt
Abc Xyz 123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1196000" y="65340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Arial"/>
              </a:rPr>
              <a:t>20pt
Abc Xyz 123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1196000" y="70668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Arial"/>
              </a:rPr>
              <a:t>24pt
Abc Xyz 123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196000" y="75996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Arial"/>
              </a:rPr>
              <a:t>28pt
Abc Xyz 123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196000" y="81324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Arial"/>
              </a:rPr>
              <a:t>32pt
Abc Xyz 123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196000" y="86652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Arial"/>
              </a:rPr>
              <a:t>36pt
Abc Xyz 123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1196000" y="91980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Arial"/>
              </a:rPr>
              <a:t>42pt
Abc Xyz 123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12348000" y="972000"/>
            <a:ext cx="1080000" cy="198000"/>
          </a:xfrm>
          <a:prstGeom prst="rect">
            <a:avLst/>
          </a:prstGeom>
          <a:solidFill>
            <a:srgbClr val="464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12384000" y="990000"/>
            <a:ext cx="104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Arial"/>
              </a:rPr>
              <a:t>Futura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2348000" y="12060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0" i="0">
                <a:solidFill>
                  <a:srgbClr val="1E1E1E"/>
                </a:solidFill>
                <a:latin typeface="Century Gothic"/>
              </a:rPr>
              <a:t>6pt
Abc Xyz 123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2348000" y="17388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E1E1E"/>
                </a:solidFill>
                <a:latin typeface="Century Gothic"/>
              </a:rPr>
              <a:t>7pt
Abc Xyz 123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2348000" y="22716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1E1E"/>
                </a:solidFill>
                <a:latin typeface="Century Gothic"/>
              </a:rPr>
              <a:t>8pt
Abc Xyz 123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2348000" y="28044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1E1E"/>
                </a:solidFill>
                <a:latin typeface="Century Gothic"/>
              </a:rPr>
              <a:t>9pt
Abc Xyz 123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2348000" y="33372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1E1E"/>
                </a:solidFill>
                <a:latin typeface="Century Gothic"/>
              </a:rPr>
              <a:t>10pt
Abc Xyz 123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12348000" y="38700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1E1E"/>
                </a:solidFill>
                <a:latin typeface="Century Gothic"/>
              </a:rPr>
              <a:t>11pt
Abc Xyz 123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2348000" y="44028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1E1E"/>
                </a:solidFill>
                <a:latin typeface="Century Gothic"/>
              </a:rPr>
              <a:t>12pt
Abc Xyz 123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2348000" y="49356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Century Gothic"/>
              </a:rPr>
              <a:t>14pt
Abc Xyz 123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2348000" y="54684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Century Gothic"/>
              </a:rPr>
              <a:t>16pt
Abc Xyz 123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2348000" y="60012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Century Gothic"/>
              </a:rPr>
              <a:t>18pt
Abc Xyz 123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2348000" y="65340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Century Gothic"/>
              </a:rPr>
              <a:t>20pt
Abc Xyz 123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2348000" y="70668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Century Gothic"/>
              </a:rPr>
              <a:t>24pt
Abc Xyz 123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12348000" y="75996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Century Gothic"/>
              </a:rPr>
              <a:t>28pt
Abc Xyz 123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2348000" y="81324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Century Gothic"/>
              </a:rPr>
              <a:t>32pt
Abc Xyz 123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2348000" y="86652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Century Gothic"/>
              </a:rPr>
              <a:t>36pt
Abc Xyz 123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2348000" y="91980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Century Gothic"/>
              </a:rPr>
              <a:t>42pt
Abc Xyz 123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13500000" y="972000"/>
            <a:ext cx="1080000" cy="198000"/>
          </a:xfrm>
          <a:prstGeom prst="rect">
            <a:avLst/>
          </a:prstGeom>
          <a:solidFill>
            <a:srgbClr val="464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13536000" y="990000"/>
            <a:ext cx="104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Arial"/>
              </a:rPr>
              <a:t>Gill Sans MT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13500000" y="12060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0" i="0">
                <a:solidFill>
                  <a:srgbClr val="1E1E1E"/>
                </a:solidFill>
                <a:latin typeface="Gill Sans MT"/>
              </a:rPr>
              <a:t>6pt
Abc Xyz 123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3500000" y="17388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E1E1E"/>
                </a:solidFill>
                <a:latin typeface="Gill Sans MT"/>
              </a:rPr>
              <a:t>7pt
Abc Xyz 123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3500000" y="22716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1E1E"/>
                </a:solidFill>
                <a:latin typeface="Gill Sans MT"/>
              </a:rPr>
              <a:t>8pt
Abc Xyz 123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3500000" y="28044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1E1E"/>
                </a:solidFill>
                <a:latin typeface="Gill Sans MT"/>
              </a:rPr>
              <a:t>9pt
Abc Xyz 123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13500000" y="33372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1E1E"/>
                </a:solidFill>
                <a:latin typeface="Gill Sans MT"/>
              </a:rPr>
              <a:t>10pt
Abc Xyz 123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13500000" y="38700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1E1E"/>
                </a:solidFill>
                <a:latin typeface="Gill Sans MT"/>
              </a:rPr>
              <a:t>11pt
Abc Xyz 123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13500000" y="44028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1E1E"/>
                </a:solidFill>
                <a:latin typeface="Gill Sans MT"/>
              </a:rPr>
              <a:t>12pt
Abc Xyz 123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13500000" y="49356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Gill Sans MT"/>
              </a:rPr>
              <a:t>14pt
Abc Xyz 123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3500000" y="54684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Gill Sans MT"/>
              </a:rPr>
              <a:t>16pt
Abc Xyz 123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3500000" y="60012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Gill Sans MT"/>
              </a:rPr>
              <a:t>18pt
Abc Xyz 123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3500000" y="65340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Gill Sans MT"/>
              </a:rPr>
              <a:t>20pt
Abc Xyz 123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13500000" y="70668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Gill Sans MT"/>
              </a:rPr>
              <a:t>24pt
Abc Xyz 123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13500000" y="75996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Gill Sans MT"/>
              </a:rPr>
              <a:t>28pt
Abc Xyz 123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13500000" y="81324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Gill Sans MT"/>
              </a:rPr>
              <a:t>32pt
Abc Xyz 123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3500000" y="86652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Gill Sans MT"/>
              </a:rPr>
              <a:t>36pt
Abc Xyz 123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3500000" y="9198000"/>
            <a:ext cx="1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Gill Sans MT"/>
              </a:rPr>
              <a:t>42pt
Abc Xyz 123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360000" y="9540000"/>
            <a:ext cx="144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878"/>
                </a:solidFill>
                <a:latin typeface="SimSun"/>
              </a:rPr>
              <a:t>注：号数为中文印刷传统规格  ·  pt值为PostScript标准磅值  ·  展示字号受版面限制已缩放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120000" cy="10692000"/>
          </a:xfrm>
          <a:prstGeom prst="rect">
            <a:avLst/>
          </a:prstGeom>
          <a:solidFill>
            <a:srgbClr val="FC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120000" cy="648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136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DC96"/>
                </a:solidFill>
                <a:latin typeface="SimHei"/>
              </a:rPr>
              <a:t>09  宋体行距实验  ·  9pt / 10pt / 12pt × 行距 100%·125%·150%·175%·200%</a:t>
            </a:r>
          </a:p>
        </p:txBody>
      </p:sp>
      <p:sp>
        <p:nvSpPr>
          <p:cNvPr id="5" name="Rectangle 4"/>
          <p:cNvSpPr/>
          <p:nvPr/>
        </p:nvSpPr>
        <p:spPr>
          <a:xfrm>
            <a:off x="288000" y="756000"/>
            <a:ext cx="4572000" cy="198000"/>
          </a:xfrm>
          <a:prstGeom prst="rect">
            <a:avLst/>
          </a:prstGeom>
          <a:solidFill>
            <a:srgbClr val="503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774000"/>
            <a:ext cx="45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imHei"/>
              </a:rPr>
              <a:t>9pt  行距100%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990000"/>
            <a:ext cx="4572000" cy="2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>
                <a:solidFill>
                  <a:srgbClr val="282828"/>
                </a:solidFill>
                <a:latin typeface="SimSun"/>
              </a:rPr>
              <a:t>床前明月光，疑是地上霜。</a:t>
            </a:r>
          </a:p>
          <a:p>
            <a:pPr algn="l">
              <a:lnSpc>
                <a:spcPct val="100000"/>
              </a:lnSpc>
            </a:pPr>
            <a:r>
              <a:rPr sz="900">
                <a:solidFill>
                  <a:srgbClr val="282828"/>
                </a:solidFill>
                <a:latin typeface="SimSun"/>
              </a:rPr>
              <a:t>举头望明月，低头思故乡。</a:t>
            </a:r>
          </a:p>
          <a:p>
            <a:pPr algn="l">
              <a:lnSpc>
                <a:spcPct val="100000"/>
              </a:lnSpc>
            </a:pPr>
            <a:r>
              <a:rPr sz="900">
                <a:solidFill>
                  <a:srgbClr val="282828"/>
                </a:solidFill>
                <a:latin typeface="SimSun"/>
              </a:rPr>
              <a:t>春眠不觉晓，处处闻啼鸟。</a:t>
            </a:r>
          </a:p>
          <a:p>
            <a:pPr algn="l">
              <a:lnSpc>
                <a:spcPct val="100000"/>
              </a:lnSpc>
            </a:pPr>
            <a:r>
              <a:rPr sz="900">
                <a:solidFill>
                  <a:srgbClr val="282828"/>
                </a:solidFill>
                <a:latin typeface="SimSun"/>
              </a:rPr>
              <a:t>夜来风雨声，花落知多少。</a:t>
            </a:r>
          </a:p>
          <a:p>
            <a:pPr algn="l">
              <a:lnSpc>
                <a:spcPct val="100000"/>
              </a:lnSpc>
            </a:pPr>
            <a:r>
              <a:rPr sz="900">
                <a:solidFill>
                  <a:srgbClr val="282828"/>
                </a:solidFill>
                <a:latin typeface="SimSun"/>
              </a:rPr>
              <a:t>欲穷千里目，更上一层楼。</a:t>
            </a:r>
          </a:p>
          <a:p>
            <a:pPr algn="l">
              <a:lnSpc>
                <a:spcPct val="100000"/>
              </a:lnSpc>
            </a:pPr>
            <a:r>
              <a:rPr sz="900">
                <a:solidFill>
                  <a:srgbClr val="282828"/>
                </a:solidFill>
                <a:latin typeface="SimSun"/>
              </a:rPr>
              <a:t>海内存知己，天涯若比邻。</a:t>
            </a:r>
          </a:p>
          <a:p>
            <a:pPr algn="l">
              <a:lnSpc>
                <a:spcPct val="100000"/>
              </a:lnSpc>
            </a:pPr>
            <a:r>
              <a:rPr sz="900">
                <a:solidFill>
                  <a:srgbClr val="282828"/>
                </a:solidFill>
                <a:latin typeface="SimSun"/>
              </a:rPr>
              <a:t>会当凌绝顶，一览众山小。</a:t>
            </a:r>
          </a:p>
          <a:p>
            <a:pPr algn="l">
              <a:lnSpc>
                <a:spcPct val="100000"/>
              </a:lnSpc>
            </a:pPr>
            <a:r>
              <a:rPr sz="900">
                <a:solidFill>
                  <a:srgbClr val="282828"/>
                </a:solidFill>
                <a:latin typeface="SimSun"/>
              </a:rPr>
              <a:t>大漠孤烟直，长河落日圆。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968000" y="756000"/>
            <a:ext cx="4572000" cy="198000"/>
          </a:xfrm>
          <a:prstGeom prst="rect">
            <a:avLst/>
          </a:prstGeom>
          <a:solidFill>
            <a:srgbClr val="503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40000" y="774000"/>
            <a:ext cx="45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imHei"/>
              </a:rPr>
              <a:t>9pt  行距125%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68000" y="990000"/>
            <a:ext cx="4572000" cy="2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>
                <a:solidFill>
                  <a:srgbClr val="282828"/>
                </a:solidFill>
                <a:latin typeface="SimSun"/>
              </a:rPr>
              <a:t>床前明月光，疑是地上霜。</a:t>
            </a:r>
          </a:p>
          <a:p>
            <a:pPr algn="l">
              <a:lnSpc>
                <a:spcPct val="125000"/>
              </a:lnSpc>
            </a:pPr>
            <a:r>
              <a:rPr sz="900">
                <a:solidFill>
                  <a:srgbClr val="282828"/>
                </a:solidFill>
                <a:latin typeface="SimSun"/>
              </a:rPr>
              <a:t>举头望明月，低头思故乡。</a:t>
            </a:r>
          </a:p>
          <a:p>
            <a:pPr algn="l">
              <a:lnSpc>
                <a:spcPct val="125000"/>
              </a:lnSpc>
            </a:pPr>
            <a:r>
              <a:rPr sz="900">
                <a:solidFill>
                  <a:srgbClr val="282828"/>
                </a:solidFill>
                <a:latin typeface="SimSun"/>
              </a:rPr>
              <a:t>春眠不觉晓，处处闻啼鸟。</a:t>
            </a:r>
          </a:p>
          <a:p>
            <a:pPr algn="l">
              <a:lnSpc>
                <a:spcPct val="125000"/>
              </a:lnSpc>
            </a:pPr>
            <a:r>
              <a:rPr sz="900">
                <a:solidFill>
                  <a:srgbClr val="282828"/>
                </a:solidFill>
                <a:latin typeface="SimSun"/>
              </a:rPr>
              <a:t>夜来风雨声，花落知多少。</a:t>
            </a:r>
          </a:p>
          <a:p>
            <a:pPr algn="l">
              <a:lnSpc>
                <a:spcPct val="125000"/>
              </a:lnSpc>
            </a:pPr>
            <a:r>
              <a:rPr sz="900">
                <a:solidFill>
                  <a:srgbClr val="282828"/>
                </a:solidFill>
                <a:latin typeface="SimSun"/>
              </a:rPr>
              <a:t>欲穷千里目，更上一层楼。</a:t>
            </a:r>
          </a:p>
          <a:p>
            <a:pPr algn="l">
              <a:lnSpc>
                <a:spcPct val="125000"/>
              </a:lnSpc>
            </a:pPr>
            <a:r>
              <a:rPr sz="900">
                <a:solidFill>
                  <a:srgbClr val="282828"/>
                </a:solidFill>
                <a:latin typeface="SimSun"/>
              </a:rPr>
              <a:t>海内存知己，天涯若比邻。</a:t>
            </a:r>
          </a:p>
          <a:p>
            <a:pPr algn="l">
              <a:lnSpc>
                <a:spcPct val="125000"/>
              </a:lnSpc>
            </a:pPr>
            <a:r>
              <a:rPr sz="900">
                <a:solidFill>
                  <a:srgbClr val="282828"/>
                </a:solidFill>
                <a:latin typeface="SimSun"/>
              </a:rPr>
              <a:t>会当凌绝顶，一览众山小。</a:t>
            </a:r>
          </a:p>
          <a:p>
            <a:pPr algn="l">
              <a:lnSpc>
                <a:spcPct val="125000"/>
              </a:lnSpc>
            </a:pPr>
            <a:r>
              <a:rPr sz="900">
                <a:solidFill>
                  <a:srgbClr val="282828"/>
                </a:solidFill>
                <a:latin typeface="SimSun"/>
              </a:rPr>
              <a:t>大漠孤烟直，长河落日圆。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48000" y="756000"/>
            <a:ext cx="4572000" cy="198000"/>
          </a:xfrm>
          <a:prstGeom prst="rect">
            <a:avLst/>
          </a:prstGeom>
          <a:solidFill>
            <a:srgbClr val="503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20000" y="774000"/>
            <a:ext cx="45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imHei"/>
              </a:rPr>
              <a:t>9pt  行距150%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48000" y="990000"/>
            <a:ext cx="4572000" cy="2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900">
                <a:solidFill>
                  <a:srgbClr val="282828"/>
                </a:solidFill>
                <a:latin typeface="SimSun"/>
              </a:rPr>
              <a:t>床前明月光，疑是地上霜。</a:t>
            </a:r>
          </a:p>
          <a:p>
            <a:pPr algn="l">
              <a:lnSpc>
                <a:spcPct val="150000"/>
              </a:lnSpc>
            </a:pPr>
            <a:r>
              <a:rPr sz="900">
                <a:solidFill>
                  <a:srgbClr val="282828"/>
                </a:solidFill>
                <a:latin typeface="SimSun"/>
              </a:rPr>
              <a:t>举头望明月，低头思故乡。</a:t>
            </a:r>
          </a:p>
          <a:p>
            <a:pPr algn="l">
              <a:lnSpc>
                <a:spcPct val="150000"/>
              </a:lnSpc>
            </a:pPr>
            <a:r>
              <a:rPr sz="900">
                <a:solidFill>
                  <a:srgbClr val="282828"/>
                </a:solidFill>
                <a:latin typeface="SimSun"/>
              </a:rPr>
              <a:t>春眠不觉晓，处处闻啼鸟。</a:t>
            </a:r>
          </a:p>
          <a:p>
            <a:pPr algn="l">
              <a:lnSpc>
                <a:spcPct val="150000"/>
              </a:lnSpc>
            </a:pPr>
            <a:r>
              <a:rPr sz="900">
                <a:solidFill>
                  <a:srgbClr val="282828"/>
                </a:solidFill>
                <a:latin typeface="SimSun"/>
              </a:rPr>
              <a:t>夜来风雨声，花落知多少。</a:t>
            </a:r>
          </a:p>
          <a:p>
            <a:pPr algn="l">
              <a:lnSpc>
                <a:spcPct val="150000"/>
              </a:lnSpc>
            </a:pPr>
            <a:r>
              <a:rPr sz="900">
                <a:solidFill>
                  <a:srgbClr val="282828"/>
                </a:solidFill>
                <a:latin typeface="SimSun"/>
              </a:rPr>
              <a:t>欲穷千里目，更上一层楼。</a:t>
            </a:r>
          </a:p>
          <a:p>
            <a:pPr algn="l">
              <a:lnSpc>
                <a:spcPct val="150000"/>
              </a:lnSpc>
            </a:pPr>
            <a:r>
              <a:rPr sz="900">
                <a:solidFill>
                  <a:srgbClr val="282828"/>
                </a:solidFill>
                <a:latin typeface="SimSun"/>
              </a:rPr>
              <a:t>海内存知己，天涯若比邻。</a:t>
            </a:r>
          </a:p>
          <a:p>
            <a:pPr algn="l">
              <a:lnSpc>
                <a:spcPct val="150000"/>
              </a:lnSpc>
            </a:pPr>
            <a:r>
              <a:rPr sz="900">
                <a:solidFill>
                  <a:srgbClr val="282828"/>
                </a:solidFill>
                <a:latin typeface="SimSun"/>
              </a:rPr>
              <a:t>会当凌绝顶，一览众山小。</a:t>
            </a:r>
          </a:p>
          <a:p>
            <a:pPr algn="l">
              <a:lnSpc>
                <a:spcPct val="150000"/>
              </a:lnSpc>
            </a:pPr>
            <a:r>
              <a:rPr sz="900">
                <a:solidFill>
                  <a:srgbClr val="282828"/>
                </a:solidFill>
                <a:latin typeface="SimSun"/>
              </a:rPr>
              <a:t>大漠孤烟直，长河落日圆。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8000" y="3816000"/>
            <a:ext cx="4572000" cy="198000"/>
          </a:xfrm>
          <a:prstGeom prst="rect">
            <a:avLst/>
          </a:prstGeom>
          <a:solidFill>
            <a:srgbClr val="503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0000" y="3834000"/>
            <a:ext cx="45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imHei"/>
              </a:rPr>
              <a:t>10pt 行距125%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00" y="4050000"/>
            <a:ext cx="4572000" cy="2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282828"/>
                </a:solidFill>
                <a:latin typeface="SimSun"/>
              </a:rPr>
              <a:t>床前明月光，疑是地上霜。</a:t>
            </a:r>
          </a:p>
          <a:p>
            <a:pPr algn="l">
              <a:lnSpc>
                <a:spcPct val="125000"/>
              </a:lnSpc>
            </a:pPr>
            <a:r>
              <a:rPr sz="1000">
                <a:solidFill>
                  <a:srgbClr val="282828"/>
                </a:solidFill>
                <a:latin typeface="SimSun"/>
              </a:rPr>
              <a:t>举头望明月，低头思故乡。</a:t>
            </a:r>
          </a:p>
          <a:p>
            <a:pPr algn="l">
              <a:lnSpc>
                <a:spcPct val="125000"/>
              </a:lnSpc>
            </a:pPr>
            <a:r>
              <a:rPr sz="1000">
                <a:solidFill>
                  <a:srgbClr val="282828"/>
                </a:solidFill>
                <a:latin typeface="SimSun"/>
              </a:rPr>
              <a:t>春眠不觉晓，处处闻啼鸟。</a:t>
            </a:r>
          </a:p>
          <a:p>
            <a:pPr algn="l">
              <a:lnSpc>
                <a:spcPct val="125000"/>
              </a:lnSpc>
            </a:pPr>
            <a:r>
              <a:rPr sz="1000">
                <a:solidFill>
                  <a:srgbClr val="282828"/>
                </a:solidFill>
                <a:latin typeface="SimSun"/>
              </a:rPr>
              <a:t>夜来风雨声，花落知多少。</a:t>
            </a:r>
          </a:p>
          <a:p>
            <a:pPr algn="l">
              <a:lnSpc>
                <a:spcPct val="125000"/>
              </a:lnSpc>
            </a:pPr>
            <a:r>
              <a:rPr sz="1000">
                <a:solidFill>
                  <a:srgbClr val="282828"/>
                </a:solidFill>
                <a:latin typeface="SimSun"/>
              </a:rPr>
              <a:t>欲穷千里目，更上一层楼。</a:t>
            </a:r>
          </a:p>
          <a:p>
            <a:pPr algn="l">
              <a:lnSpc>
                <a:spcPct val="125000"/>
              </a:lnSpc>
            </a:pPr>
            <a:r>
              <a:rPr sz="1000">
                <a:solidFill>
                  <a:srgbClr val="282828"/>
                </a:solidFill>
                <a:latin typeface="SimSun"/>
              </a:rPr>
              <a:t>海内存知己，天涯若比邻。</a:t>
            </a:r>
          </a:p>
          <a:p>
            <a:pPr algn="l">
              <a:lnSpc>
                <a:spcPct val="125000"/>
              </a:lnSpc>
            </a:pPr>
            <a:r>
              <a:rPr sz="1000">
                <a:solidFill>
                  <a:srgbClr val="282828"/>
                </a:solidFill>
                <a:latin typeface="SimSun"/>
              </a:rPr>
              <a:t>会当凌绝顶，一览众山小。</a:t>
            </a:r>
          </a:p>
          <a:p>
            <a:pPr algn="l">
              <a:lnSpc>
                <a:spcPct val="125000"/>
              </a:lnSpc>
            </a:pPr>
            <a:r>
              <a:rPr sz="1000">
                <a:solidFill>
                  <a:srgbClr val="282828"/>
                </a:solidFill>
                <a:latin typeface="SimSun"/>
              </a:rPr>
              <a:t>大漠孤烟直，长河落日圆。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68000" y="3816000"/>
            <a:ext cx="4572000" cy="198000"/>
          </a:xfrm>
          <a:prstGeom prst="rect">
            <a:avLst/>
          </a:prstGeom>
          <a:solidFill>
            <a:srgbClr val="503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40000" y="3834000"/>
            <a:ext cx="45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imHei"/>
              </a:rPr>
              <a:t>10pt 行距150%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68000" y="4050000"/>
            <a:ext cx="4572000" cy="2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>
                <a:solidFill>
                  <a:srgbClr val="282828"/>
                </a:solidFill>
                <a:latin typeface="SimSun"/>
              </a:rPr>
              <a:t>床前明月光，疑是地上霜。</a:t>
            </a:r>
          </a:p>
          <a:p>
            <a:pPr algn="l">
              <a:lnSpc>
                <a:spcPct val="150000"/>
              </a:lnSpc>
            </a:pPr>
            <a:r>
              <a:rPr sz="1000">
                <a:solidFill>
                  <a:srgbClr val="282828"/>
                </a:solidFill>
                <a:latin typeface="SimSun"/>
              </a:rPr>
              <a:t>举头望明月，低头思故乡。</a:t>
            </a:r>
          </a:p>
          <a:p>
            <a:pPr algn="l">
              <a:lnSpc>
                <a:spcPct val="150000"/>
              </a:lnSpc>
            </a:pPr>
            <a:r>
              <a:rPr sz="1000">
                <a:solidFill>
                  <a:srgbClr val="282828"/>
                </a:solidFill>
                <a:latin typeface="SimSun"/>
              </a:rPr>
              <a:t>春眠不觉晓，处处闻啼鸟。</a:t>
            </a:r>
          </a:p>
          <a:p>
            <a:pPr algn="l">
              <a:lnSpc>
                <a:spcPct val="150000"/>
              </a:lnSpc>
            </a:pPr>
            <a:r>
              <a:rPr sz="1000">
                <a:solidFill>
                  <a:srgbClr val="282828"/>
                </a:solidFill>
                <a:latin typeface="SimSun"/>
              </a:rPr>
              <a:t>夜来风雨声，花落知多少。</a:t>
            </a:r>
          </a:p>
          <a:p>
            <a:pPr algn="l">
              <a:lnSpc>
                <a:spcPct val="150000"/>
              </a:lnSpc>
            </a:pPr>
            <a:r>
              <a:rPr sz="1000">
                <a:solidFill>
                  <a:srgbClr val="282828"/>
                </a:solidFill>
                <a:latin typeface="SimSun"/>
              </a:rPr>
              <a:t>欲穷千里目，更上一层楼。</a:t>
            </a:r>
          </a:p>
          <a:p>
            <a:pPr algn="l">
              <a:lnSpc>
                <a:spcPct val="150000"/>
              </a:lnSpc>
            </a:pPr>
            <a:r>
              <a:rPr sz="1000">
                <a:solidFill>
                  <a:srgbClr val="282828"/>
                </a:solidFill>
                <a:latin typeface="SimSun"/>
              </a:rPr>
              <a:t>海内存知己，天涯若比邻。</a:t>
            </a:r>
          </a:p>
          <a:p>
            <a:pPr algn="l">
              <a:lnSpc>
                <a:spcPct val="150000"/>
              </a:lnSpc>
            </a:pPr>
            <a:r>
              <a:rPr sz="1000">
                <a:solidFill>
                  <a:srgbClr val="282828"/>
                </a:solidFill>
                <a:latin typeface="SimSun"/>
              </a:rPr>
              <a:t>会当凌绝顶，一览众山小。</a:t>
            </a:r>
          </a:p>
          <a:p>
            <a:pPr algn="l">
              <a:lnSpc>
                <a:spcPct val="150000"/>
              </a:lnSpc>
            </a:pPr>
            <a:r>
              <a:rPr sz="1000">
                <a:solidFill>
                  <a:srgbClr val="282828"/>
                </a:solidFill>
                <a:latin typeface="SimSun"/>
              </a:rPr>
              <a:t>大漠孤烟直，长河落日圆。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48000" y="3816000"/>
            <a:ext cx="4572000" cy="198000"/>
          </a:xfrm>
          <a:prstGeom prst="rect">
            <a:avLst/>
          </a:prstGeom>
          <a:solidFill>
            <a:srgbClr val="503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20000" y="3834000"/>
            <a:ext cx="45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imHei"/>
              </a:rPr>
              <a:t>10pt 行距175%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48000" y="4050000"/>
            <a:ext cx="4572000" cy="2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75000"/>
              </a:lnSpc>
            </a:pPr>
            <a:r>
              <a:rPr sz="1000">
                <a:solidFill>
                  <a:srgbClr val="282828"/>
                </a:solidFill>
                <a:latin typeface="SimSun"/>
              </a:rPr>
              <a:t>床前明月光，疑是地上霜。</a:t>
            </a:r>
          </a:p>
          <a:p>
            <a:pPr algn="l">
              <a:lnSpc>
                <a:spcPct val="175000"/>
              </a:lnSpc>
            </a:pPr>
            <a:r>
              <a:rPr sz="1000">
                <a:solidFill>
                  <a:srgbClr val="282828"/>
                </a:solidFill>
                <a:latin typeface="SimSun"/>
              </a:rPr>
              <a:t>举头望明月，低头思故乡。</a:t>
            </a:r>
          </a:p>
          <a:p>
            <a:pPr algn="l">
              <a:lnSpc>
                <a:spcPct val="175000"/>
              </a:lnSpc>
            </a:pPr>
            <a:r>
              <a:rPr sz="1000">
                <a:solidFill>
                  <a:srgbClr val="282828"/>
                </a:solidFill>
                <a:latin typeface="SimSun"/>
              </a:rPr>
              <a:t>春眠不觉晓，处处闻啼鸟。</a:t>
            </a:r>
          </a:p>
          <a:p>
            <a:pPr algn="l">
              <a:lnSpc>
                <a:spcPct val="175000"/>
              </a:lnSpc>
            </a:pPr>
            <a:r>
              <a:rPr sz="1000">
                <a:solidFill>
                  <a:srgbClr val="282828"/>
                </a:solidFill>
                <a:latin typeface="SimSun"/>
              </a:rPr>
              <a:t>夜来风雨声，花落知多少。</a:t>
            </a:r>
          </a:p>
          <a:p>
            <a:pPr algn="l">
              <a:lnSpc>
                <a:spcPct val="175000"/>
              </a:lnSpc>
            </a:pPr>
            <a:r>
              <a:rPr sz="1000">
                <a:solidFill>
                  <a:srgbClr val="282828"/>
                </a:solidFill>
                <a:latin typeface="SimSun"/>
              </a:rPr>
              <a:t>欲穷千里目，更上一层楼。</a:t>
            </a:r>
          </a:p>
          <a:p>
            <a:pPr algn="l">
              <a:lnSpc>
                <a:spcPct val="175000"/>
              </a:lnSpc>
            </a:pPr>
            <a:r>
              <a:rPr sz="1000">
                <a:solidFill>
                  <a:srgbClr val="282828"/>
                </a:solidFill>
                <a:latin typeface="SimSun"/>
              </a:rPr>
              <a:t>海内存知己，天涯若比邻。</a:t>
            </a:r>
          </a:p>
          <a:p>
            <a:pPr algn="l">
              <a:lnSpc>
                <a:spcPct val="175000"/>
              </a:lnSpc>
            </a:pPr>
            <a:r>
              <a:rPr sz="1000">
                <a:solidFill>
                  <a:srgbClr val="282828"/>
                </a:solidFill>
                <a:latin typeface="SimSun"/>
              </a:rPr>
              <a:t>会当凌绝顶，一览众山小。</a:t>
            </a:r>
          </a:p>
          <a:p>
            <a:pPr algn="l">
              <a:lnSpc>
                <a:spcPct val="175000"/>
              </a:lnSpc>
            </a:pPr>
            <a:r>
              <a:rPr sz="1000">
                <a:solidFill>
                  <a:srgbClr val="282828"/>
                </a:solidFill>
                <a:latin typeface="SimSun"/>
              </a:rPr>
              <a:t>大漠孤烟直，长河落日圆。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8000" y="6876000"/>
            <a:ext cx="4572000" cy="198000"/>
          </a:xfrm>
          <a:prstGeom prst="rect">
            <a:avLst/>
          </a:prstGeom>
          <a:solidFill>
            <a:srgbClr val="503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0000" y="6894000"/>
            <a:ext cx="45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imHei"/>
              </a:rPr>
              <a:t>12pt 行距150%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8000" y="7110000"/>
            <a:ext cx="4572000" cy="2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>
                <a:solidFill>
                  <a:srgbClr val="282828"/>
                </a:solidFill>
                <a:latin typeface="SimSun"/>
              </a:rPr>
              <a:t>床前明月光，疑是地上霜。</a:t>
            </a:r>
          </a:p>
          <a:p>
            <a:pPr algn="l">
              <a:lnSpc>
                <a:spcPct val="150000"/>
              </a:lnSpc>
            </a:pPr>
            <a:r>
              <a:rPr sz="1200">
                <a:solidFill>
                  <a:srgbClr val="282828"/>
                </a:solidFill>
                <a:latin typeface="SimSun"/>
              </a:rPr>
              <a:t>举头望明月，低头思故乡。</a:t>
            </a:r>
          </a:p>
          <a:p>
            <a:pPr algn="l">
              <a:lnSpc>
                <a:spcPct val="150000"/>
              </a:lnSpc>
            </a:pPr>
            <a:r>
              <a:rPr sz="1200">
                <a:solidFill>
                  <a:srgbClr val="282828"/>
                </a:solidFill>
                <a:latin typeface="SimSun"/>
              </a:rPr>
              <a:t>春眠不觉晓，处处闻啼鸟。</a:t>
            </a:r>
          </a:p>
          <a:p>
            <a:pPr algn="l">
              <a:lnSpc>
                <a:spcPct val="150000"/>
              </a:lnSpc>
            </a:pPr>
            <a:r>
              <a:rPr sz="1200">
                <a:solidFill>
                  <a:srgbClr val="282828"/>
                </a:solidFill>
                <a:latin typeface="SimSun"/>
              </a:rPr>
              <a:t>夜来风雨声，花落知多少。</a:t>
            </a:r>
          </a:p>
          <a:p>
            <a:pPr algn="l">
              <a:lnSpc>
                <a:spcPct val="150000"/>
              </a:lnSpc>
            </a:pPr>
            <a:r>
              <a:rPr sz="1200">
                <a:solidFill>
                  <a:srgbClr val="282828"/>
                </a:solidFill>
                <a:latin typeface="SimSun"/>
              </a:rPr>
              <a:t>欲穷千里目，更上一层楼。</a:t>
            </a:r>
          </a:p>
          <a:p>
            <a:pPr algn="l">
              <a:lnSpc>
                <a:spcPct val="150000"/>
              </a:lnSpc>
            </a:pPr>
            <a:r>
              <a:rPr sz="1200">
                <a:solidFill>
                  <a:srgbClr val="282828"/>
                </a:solidFill>
                <a:latin typeface="SimSun"/>
              </a:rPr>
              <a:t>海内存知己，天涯若比邻。</a:t>
            </a:r>
          </a:p>
          <a:p>
            <a:pPr algn="l">
              <a:lnSpc>
                <a:spcPct val="150000"/>
              </a:lnSpc>
            </a:pPr>
            <a:r>
              <a:rPr sz="1200">
                <a:solidFill>
                  <a:srgbClr val="282828"/>
                </a:solidFill>
                <a:latin typeface="SimSun"/>
              </a:rPr>
              <a:t>会当凌绝顶，一览众山小。</a:t>
            </a:r>
          </a:p>
          <a:p>
            <a:pPr algn="l">
              <a:lnSpc>
                <a:spcPct val="150000"/>
              </a:lnSpc>
            </a:pPr>
            <a:r>
              <a:rPr sz="1200">
                <a:solidFill>
                  <a:srgbClr val="282828"/>
                </a:solidFill>
                <a:latin typeface="SimSun"/>
              </a:rPr>
              <a:t>大漠孤烟直，长河落日圆。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68000" y="6876000"/>
            <a:ext cx="4572000" cy="198000"/>
          </a:xfrm>
          <a:prstGeom prst="rect">
            <a:avLst/>
          </a:prstGeom>
          <a:solidFill>
            <a:srgbClr val="503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0000" y="6894000"/>
            <a:ext cx="45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imHei"/>
              </a:rPr>
              <a:t>12pt 行距175%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68000" y="7110000"/>
            <a:ext cx="4572000" cy="2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75000"/>
              </a:lnSpc>
            </a:pPr>
            <a:r>
              <a:rPr sz="1200">
                <a:solidFill>
                  <a:srgbClr val="282828"/>
                </a:solidFill>
                <a:latin typeface="SimSun"/>
              </a:rPr>
              <a:t>床前明月光，疑是地上霜。</a:t>
            </a:r>
          </a:p>
          <a:p>
            <a:pPr algn="l">
              <a:lnSpc>
                <a:spcPct val="175000"/>
              </a:lnSpc>
            </a:pPr>
            <a:r>
              <a:rPr sz="1200">
                <a:solidFill>
                  <a:srgbClr val="282828"/>
                </a:solidFill>
                <a:latin typeface="SimSun"/>
              </a:rPr>
              <a:t>举头望明月，低头思故乡。</a:t>
            </a:r>
          </a:p>
          <a:p>
            <a:pPr algn="l">
              <a:lnSpc>
                <a:spcPct val="175000"/>
              </a:lnSpc>
            </a:pPr>
            <a:r>
              <a:rPr sz="1200">
                <a:solidFill>
                  <a:srgbClr val="282828"/>
                </a:solidFill>
                <a:latin typeface="SimSun"/>
              </a:rPr>
              <a:t>春眠不觉晓，处处闻啼鸟。</a:t>
            </a:r>
          </a:p>
          <a:p>
            <a:pPr algn="l">
              <a:lnSpc>
                <a:spcPct val="175000"/>
              </a:lnSpc>
            </a:pPr>
            <a:r>
              <a:rPr sz="1200">
                <a:solidFill>
                  <a:srgbClr val="282828"/>
                </a:solidFill>
                <a:latin typeface="SimSun"/>
              </a:rPr>
              <a:t>夜来风雨声，花落知多少。</a:t>
            </a:r>
          </a:p>
          <a:p>
            <a:pPr algn="l">
              <a:lnSpc>
                <a:spcPct val="175000"/>
              </a:lnSpc>
            </a:pPr>
            <a:r>
              <a:rPr sz="1200">
                <a:solidFill>
                  <a:srgbClr val="282828"/>
                </a:solidFill>
                <a:latin typeface="SimSun"/>
              </a:rPr>
              <a:t>欲穷千里目，更上一层楼。</a:t>
            </a:r>
          </a:p>
          <a:p>
            <a:pPr algn="l">
              <a:lnSpc>
                <a:spcPct val="175000"/>
              </a:lnSpc>
            </a:pPr>
            <a:r>
              <a:rPr sz="1200">
                <a:solidFill>
                  <a:srgbClr val="282828"/>
                </a:solidFill>
                <a:latin typeface="SimSun"/>
              </a:rPr>
              <a:t>海内存知己，天涯若比邻。</a:t>
            </a:r>
          </a:p>
          <a:p>
            <a:pPr algn="l">
              <a:lnSpc>
                <a:spcPct val="175000"/>
              </a:lnSpc>
            </a:pPr>
            <a:r>
              <a:rPr sz="1200">
                <a:solidFill>
                  <a:srgbClr val="282828"/>
                </a:solidFill>
                <a:latin typeface="SimSun"/>
              </a:rPr>
              <a:t>会当凌绝顶，一览众山小。</a:t>
            </a:r>
          </a:p>
          <a:p>
            <a:pPr algn="l">
              <a:lnSpc>
                <a:spcPct val="175000"/>
              </a:lnSpc>
            </a:pPr>
            <a:r>
              <a:rPr sz="1200">
                <a:solidFill>
                  <a:srgbClr val="282828"/>
                </a:solidFill>
                <a:latin typeface="SimSun"/>
              </a:rPr>
              <a:t>大漠孤烟直，长河落日圆。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48000" y="6876000"/>
            <a:ext cx="4572000" cy="198000"/>
          </a:xfrm>
          <a:prstGeom prst="rect">
            <a:avLst/>
          </a:prstGeom>
          <a:solidFill>
            <a:srgbClr val="503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20000" y="6894000"/>
            <a:ext cx="45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imHei"/>
              </a:rPr>
              <a:t>12pt 行距200%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48000" y="7110000"/>
            <a:ext cx="4572000" cy="2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200000"/>
              </a:lnSpc>
            </a:pPr>
            <a:r>
              <a:rPr sz="1200">
                <a:solidFill>
                  <a:srgbClr val="282828"/>
                </a:solidFill>
                <a:latin typeface="SimSun"/>
              </a:rPr>
              <a:t>床前明月光，疑是地上霜。</a:t>
            </a:r>
          </a:p>
          <a:p>
            <a:pPr algn="l">
              <a:lnSpc>
                <a:spcPct val="200000"/>
              </a:lnSpc>
            </a:pPr>
            <a:r>
              <a:rPr sz="1200">
                <a:solidFill>
                  <a:srgbClr val="282828"/>
                </a:solidFill>
                <a:latin typeface="SimSun"/>
              </a:rPr>
              <a:t>举头望明月，低头思故乡。</a:t>
            </a:r>
          </a:p>
          <a:p>
            <a:pPr algn="l">
              <a:lnSpc>
                <a:spcPct val="200000"/>
              </a:lnSpc>
            </a:pPr>
            <a:r>
              <a:rPr sz="1200">
                <a:solidFill>
                  <a:srgbClr val="282828"/>
                </a:solidFill>
                <a:latin typeface="SimSun"/>
              </a:rPr>
              <a:t>春眠不觉晓，处处闻啼鸟。</a:t>
            </a:r>
          </a:p>
          <a:p>
            <a:pPr algn="l">
              <a:lnSpc>
                <a:spcPct val="200000"/>
              </a:lnSpc>
            </a:pPr>
            <a:r>
              <a:rPr sz="1200">
                <a:solidFill>
                  <a:srgbClr val="282828"/>
                </a:solidFill>
                <a:latin typeface="SimSun"/>
              </a:rPr>
              <a:t>夜来风雨声，花落知多少。</a:t>
            </a:r>
          </a:p>
          <a:p>
            <a:pPr algn="l">
              <a:lnSpc>
                <a:spcPct val="200000"/>
              </a:lnSpc>
            </a:pPr>
            <a:r>
              <a:rPr sz="1200">
                <a:solidFill>
                  <a:srgbClr val="282828"/>
                </a:solidFill>
                <a:latin typeface="SimSun"/>
              </a:rPr>
              <a:t>欲穷千里目，更上一层楼。</a:t>
            </a:r>
          </a:p>
          <a:p>
            <a:pPr algn="l">
              <a:lnSpc>
                <a:spcPct val="200000"/>
              </a:lnSpc>
            </a:pPr>
            <a:r>
              <a:rPr sz="1200">
                <a:solidFill>
                  <a:srgbClr val="282828"/>
                </a:solidFill>
                <a:latin typeface="SimSun"/>
              </a:rPr>
              <a:t>海内存知己，天涯若比邻。</a:t>
            </a:r>
          </a:p>
          <a:p>
            <a:pPr algn="l">
              <a:lnSpc>
                <a:spcPct val="200000"/>
              </a:lnSpc>
            </a:pPr>
            <a:r>
              <a:rPr sz="1200">
                <a:solidFill>
                  <a:srgbClr val="282828"/>
                </a:solidFill>
                <a:latin typeface="SimSun"/>
              </a:rPr>
              <a:t>会当凌绝顶，一览众山小。</a:t>
            </a:r>
          </a:p>
          <a:p>
            <a:pPr algn="l">
              <a:lnSpc>
                <a:spcPct val="200000"/>
              </a:lnSpc>
            </a:pPr>
            <a:r>
              <a:rPr sz="1200">
                <a:solidFill>
                  <a:srgbClr val="282828"/>
                </a:solidFill>
                <a:latin typeface="SimSun"/>
              </a:rPr>
              <a:t>大漠孤烟直，长河落日圆。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0000" y="9540000"/>
            <a:ext cx="144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878"/>
                </a:solidFill>
                <a:latin typeface="SimSun"/>
              </a:rPr>
              <a:t>行距实验  ·  宋体 SimSun  ·  参考软件：CDR / AI / PS  ·  文本选自唐诗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120000" cy="10692000"/>
          </a:xfrm>
          <a:prstGeom prst="rect">
            <a:avLst/>
          </a:prstGeom>
          <a:solidFill>
            <a:srgbClr val="FC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120000" cy="648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136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DC96"/>
                </a:solidFill>
                <a:latin typeface="SimHei"/>
              </a:rPr>
              <a:t>10  宋体字距实验  ·  紧缩 -50 / 标准 0 / 加宽 +50 / +100 / +200 / +300</a:t>
            </a:r>
          </a:p>
        </p:txBody>
      </p:sp>
      <p:sp>
        <p:nvSpPr>
          <p:cNvPr id="5" name="Rectangle 4"/>
          <p:cNvSpPr/>
          <p:nvPr/>
        </p:nvSpPr>
        <p:spPr>
          <a:xfrm>
            <a:off x="288000" y="756000"/>
            <a:ext cx="7020000" cy="198000"/>
          </a:xfrm>
          <a:prstGeom prst="rect">
            <a:avLst/>
          </a:prstGeom>
          <a:solidFill>
            <a:srgbClr val="3C5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774000"/>
            <a:ext cx="68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imHei"/>
              </a:rPr>
              <a:t>字距 −50（紧缩）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990000"/>
            <a:ext cx="7020000" cy="82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spc="-5000">
                <a:solidFill>
                  <a:srgbClr val="282828"/>
                </a:solidFill>
                <a:latin typeface="SimSun"/>
              </a:rPr>
              <a:t>床前明月光，疑是地上霜。举头望明月，低头思故乡。</a:t>
            </a:r>
          </a:p>
          <a:p>
            <a:pPr algn="l"/>
            <a:r>
              <a:rPr sz="900" spc="-5000">
                <a:solidFill>
                  <a:srgbClr val="282828"/>
                </a:solidFill>
                <a:latin typeface="SimSun"/>
              </a:rPr>
              <a:t>欲穷千里目，更上一层楼。</a:t>
            </a:r>
          </a:p>
          <a:p>
            <a:pPr algn="l"/>
            <a:r>
              <a:rPr sz="900" spc="-5000">
                <a:solidFill>
                  <a:srgbClr val="282828"/>
                </a:solidFill>
                <a:latin typeface="SimSun"/>
              </a:rPr>
              <a:t>春眠不觉晓，处处闻啼鸟。夜来风雨声，花落知多少。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668000" y="756000"/>
            <a:ext cx="7020000" cy="198000"/>
          </a:xfrm>
          <a:prstGeom prst="rect">
            <a:avLst/>
          </a:prstGeom>
          <a:solidFill>
            <a:srgbClr val="3C5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40000" y="774000"/>
            <a:ext cx="68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imHei"/>
              </a:rPr>
              <a:t>字距   0（标准）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68000" y="990000"/>
            <a:ext cx="7020000" cy="82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spc="0">
                <a:solidFill>
                  <a:srgbClr val="282828"/>
                </a:solidFill>
                <a:latin typeface="SimSun"/>
              </a:rPr>
              <a:t>床前明月光，疑是地上霜。举头望明月，低头思故乡。</a:t>
            </a:r>
          </a:p>
          <a:p>
            <a:pPr algn="l"/>
            <a:r>
              <a:rPr sz="900" spc="0">
                <a:solidFill>
                  <a:srgbClr val="282828"/>
                </a:solidFill>
                <a:latin typeface="SimSun"/>
              </a:rPr>
              <a:t>欲穷千里目，更上一层楼。</a:t>
            </a:r>
          </a:p>
          <a:p>
            <a:pPr algn="l"/>
            <a:r>
              <a:rPr sz="900" spc="0">
                <a:solidFill>
                  <a:srgbClr val="282828"/>
                </a:solidFill>
                <a:latin typeface="SimSun"/>
              </a:rPr>
              <a:t>春眠不觉晓，处处闻啼鸟。夜来风雨声，花落知多少。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8000" y="1872000"/>
            <a:ext cx="7020000" cy="198000"/>
          </a:xfrm>
          <a:prstGeom prst="rect">
            <a:avLst/>
          </a:prstGeom>
          <a:solidFill>
            <a:srgbClr val="3C5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000" y="1890000"/>
            <a:ext cx="68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imHei"/>
              </a:rPr>
              <a:t>字距 +50（加宽）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00" y="2106000"/>
            <a:ext cx="7020000" cy="82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spc="5000">
                <a:solidFill>
                  <a:srgbClr val="282828"/>
                </a:solidFill>
                <a:latin typeface="SimSun"/>
              </a:rPr>
              <a:t>床前明月光，疑是地上霜。举头望明月，低头思故乡。</a:t>
            </a:r>
          </a:p>
          <a:p>
            <a:pPr algn="l"/>
            <a:r>
              <a:rPr sz="900" spc="5000">
                <a:solidFill>
                  <a:srgbClr val="282828"/>
                </a:solidFill>
                <a:latin typeface="SimSun"/>
              </a:rPr>
              <a:t>欲穷千里目，更上一层楼。</a:t>
            </a:r>
          </a:p>
          <a:p>
            <a:pPr algn="l"/>
            <a:r>
              <a:rPr sz="900" spc="5000">
                <a:solidFill>
                  <a:srgbClr val="282828"/>
                </a:solidFill>
                <a:latin typeface="SimSun"/>
              </a:rPr>
              <a:t>春眠不觉晓，处处闻啼鸟。夜来风雨声，花落知多少。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68000" y="1872000"/>
            <a:ext cx="7020000" cy="198000"/>
          </a:xfrm>
          <a:prstGeom prst="rect">
            <a:avLst/>
          </a:prstGeom>
          <a:solidFill>
            <a:srgbClr val="3C5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40000" y="1890000"/>
            <a:ext cx="68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imHei"/>
              </a:rPr>
              <a:t>字距 +100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68000" y="2106000"/>
            <a:ext cx="7020000" cy="82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spc="10000">
                <a:solidFill>
                  <a:srgbClr val="282828"/>
                </a:solidFill>
                <a:latin typeface="SimSun"/>
              </a:rPr>
              <a:t>床前明月光，疑是地上霜。举头望明月，低头思故乡。</a:t>
            </a:r>
          </a:p>
          <a:p>
            <a:pPr algn="l"/>
            <a:r>
              <a:rPr sz="900" spc="10000">
                <a:solidFill>
                  <a:srgbClr val="282828"/>
                </a:solidFill>
                <a:latin typeface="SimSun"/>
              </a:rPr>
              <a:t>欲穷千里目，更上一层楼。</a:t>
            </a:r>
          </a:p>
          <a:p>
            <a:pPr algn="l"/>
            <a:r>
              <a:rPr sz="900" spc="10000">
                <a:solidFill>
                  <a:srgbClr val="282828"/>
                </a:solidFill>
                <a:latin typeface="SimSun"/>
              </a:rPr>
              <a:t>春眠不觉晓，处处闻啼鸟。夜来风雨声，花落知多少。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8000" y="2988000"/>
            <a:ext cx="7020000" cy="198000"/>
          </a:xfrm>
          <a:prstGeom prst="rect">
            <a:avLst/>
          </a:prstGeom>
          <a:solidFill>
            <a:srgbClr val="3C5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0000" y="3006000"/>
            <a:ext cx="68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imHei"/>
              </a:rPr>
              <a:t>字距 +150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00" y="3222000"/>
            <a:ext cx="7020000" cy="82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spc="15000">
                <a:solidFill>
                  <a:srgbClr val="282828"/>
                </a:solidFill>
                <a:latin typeface="SimSun"/>
              </a:rPr>
              <a:t>床前明月光，疑是地上霜。举头望明月，低头思故乡。</a:t>
            </a:r>
          </a:p>
          <a:p>
            <a:pPr algn="l"/>
            <a:r>
              <a:rPr sz="900" spc="15000">
                <a:solidFill>
                  <a:srgbClr val="282828"/>
                </a:solidFill>
                <a:latin typeface="SimSun"/>
              </a:rPr>
              <a:t>欲穷千里目，更上一层楼。</a:t>
            </a:r>
          </a:p>
          <a:p>
            <a:pPr algn="l"/>
            <a:r>
              <a:rPr sz="900" spc="15000">
                <a:solidFill>
                  <a:srgbClr val="282828"/>
                </a:solidFill>
                <a:latin typeface="SimSun"/>
              </a:rPr>
              <a:t>春眠不觉晓，处处闻啼鸟。夜来风雨声，花落知多少。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68000" y="2988000"/>
            <a:ext cx="7020000" cy="198000"/>
          </a:xfrm>
          <a:prstGeom prst="rect">
            <a:avLst/>
          </a:prstGeom>
          <a:solidFill>
            <a:srgbClr val="3C5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40000" y="3006000"/>
            <a:ext cx="68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imHei"/>
              </a:rPr>
              <a:t>字距 +200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68000" y="3222000"/>
            <a:ext cx="7020000" cy="82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spc="20000">
                <a:solidFill>
                  <a:srgbClr val="282828"/>
                </a:solidFill>
                <a:latin typeface="SimSun"/>
              </a:rPr>
              <a:t>床前明月光，疑是地上霜。举头望明月，低头思故乡。</a:t>
            </a:r>
          </a:p>
          <a:p>
            <a:pPr algn="l"/>
            <a:r>
              <a:rPr sz="900" spc="20000">
                <a:solidFill>
                  <a:srgbClr val="282828"/>
                </a:solidFill>
                <a:latin typeface="SimSun"/>
              </a:rPr>
              <a:t>欲穷千里目，更上一层楼。</a:t>
            </a:r>
          </a:p>
          <a:p>
            <a:pPr algn="l"/>
            <a:r>
              <a:rPr sz="900" spc="20000">
                <a:solidFill>
                  <a:srgbClr val="282828"/>
                </a:solidFill>
                <a:latin typeface="SimSun"/>
              </a:rPr>
              <a:t>春眠不觉晓，处处闻啼鸟。夜来风雨声，花落知多少。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8000" y="4104000"/>
            <a:ext cx="7020000" cy="198000"/>
          </a:xfrm>
          <a:prstGeom prst="rect">
            <a:avLst/>
          </a:prstGeom>
          <a:solidFill>
            <a:srgbClr val="3C5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0000" y="4122000"/>
            <a:ext cx="68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imHei"/>
              </a:rPr>
              <a:t>字距 +300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8000" y="4338000"/>
            <a:ext cx="7020000" cy="82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spc="30000">
                <a:solidFill>
                  <a:srgbClr val="282828"/>
                </a:solidFill>
                <a:latin typeface="SimSun"/>
              </a:rPr>
              <a:t>床前明月光，疑是地上霜。举头望明月，低头思故乡。</a:t>
            </a:r>
          </a:p>
          <a:p>
            <a:pPr algn="l"/>
            <a:r>
              <a:rPr sz="900" spc="30000">
                <a:solidFill>
                  <a:srgbClr val="282828"/>
                </a:solidFill>
                <a:latin typeface="SimSun"/>
              </a:rPr>
              <a:t>欲穷千里目，更上一层楼。</a:t>
            </a:r>
          </a:p>
          <a:p>
            <a:pPr algn="l"/>
            <a:r>
              <a:rPr sz="900" spc="30000">
                <a:solidFill>
                  <a:srgbClr val="282828"/>
                </a:solidFill>
                <a:latin typeface="SimSun"/>
              </a:rPr>
              <a:t>春眠不觉晓，处处闻啼鸟。夜来风雨声，花落知多少。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68000" y="4104000"/>
            <a:ext cx="7020000" cy="198000"/>
          </a:xfrm>
          <a:prstGeom prst="rect">
            <a:avLst/>
          </a:prstGeom>
          <a:solidFill>
            <a:srgbClr val="3C5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40000" y="4122000"/>
            <a:ext cx="68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imHei"/>
              </a:rPr>
              <a:t>字距 +500（疏松）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68000" y="4338000"/>
            <a:ext cx="7020000" cy="82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spc="50000">
                <a:solidFill>
                  <a:srgbClr val="282828"/>
                </a:solidFill>
                <a:latin typeface="SimSun"/>
              </a:rPr>
              <a:t>床前明月光，疑是地上霜。举头望明月，低头思故乡。</a:t>
            </a:r>
          </a:p>
          <a:p>
            <a:pPr algn="l"/>
            <a:r>
              <a:rPr sz="900" spc="50000">
                <a:solidFill>
                  <a:srgbClr val="282828"/>
                </a:solidFill>
                <a:latin typeface="SimSun"/>
              </a:rPr>
              <a:t>欲穷千里目，更上一层楼。</a:t>
            </a:r>
          </a:p>
          <a:p>
            <a:pPr algn="l"/>
            <a:r>
              <a:rPr sz="900" spc="50000">
                <a:solidFill>
                  <a:srgbClr val="282828"/>
                </a:solidFill>
                <a:latin typeface="SimSun"/>
              </a:rPr>
              <a:t>春眠不觉晓，处处闻啼鸟。夜来风雨声，花落知多少。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0000" y="9540000"/>
            <a:ext cx="144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878"/>
                </a:solidFill>
                <a:latin typeface="SimSun"/>
              </a:rPr>
              <a:t>字距实验  ·  宋体 SimSun 9pt  ·  参考软件：CDR字距微调 / AI字距调整 / PS字符间距  ·  文本选自唐诗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120000" cy="10692000"/>
          </a:xfrm>
          <a:prstGeom prst="rect">
            <a:avLst/>
          </a:prstGeom>
          <a:solidFill>
            <a:srgbClr val="FC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120000" cy="648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136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DC96"/>
                </a:solidFill>
                <a:latin typeface="SimHei"/>
              </a:rPr>
              <a:t>11  宋体综合实验  ·  行距×字距矩阵对照（CDR / AI / PS 软件标注）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288000" y="684000"/>
            <a:ext cx="4644000" cy="198000"/>
          </a:xfrm>
          <a:prstGeom prst="rect">
            <a:avLst/>
          </a:prstGeom>
          <a:solidFill>
            <a:srgbClr val="325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702000"/>
            <a:ext cx="4572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SimHei"/>
              </a:rPr>
              <a:t>字距0</a:t>
            </a:r>
          </a:p>
        </p:txBody>
      </p:sp>
      <p:sp>
        <p:nvSpPr>
          <p:cNvPr id="7" name="Rectangle 6"/>
          <p:cNvSpPr/>
          <p:nvPr/>
        </p:nvSpPr>
        <p:spPr>
          <a:xfrm>
            <a:off x="4968000" y="684000"/>
            <a:ext cx="4644000" cy="198000"/>
          </a:xfrm>
          <a:prstGeom prst="rect">
            <a:avLst/>
          </a:prstGeom>
          <a:solidFill>
            <a:srgbClr val="325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40000" y="702000"/>
            <a:ext cx="4572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SimHei"/>
              </a:rPr>
              <a:t>字距+100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9648000" y="684000"/>
            <a:ext cx="4644000" cy="198000"/>
          </a:xfrm>
          <a:prstGeom prst="rect">
            <a:avLst/>
          </a:prstGeom>
          <a:solidFill>
            <a:srgbClr val="325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20000" y="702000"/>
            <a:ext cx="4572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SimHei"/>
              </a:rPr>
              <a:t>字距+300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917999"/>
            <a:ext cx="270000" cy="2844000"/>
          </a:xfrm>
          <a:prstGeom prst="rect">
            <a:avLst/>
          </a:prstGeom>
          <a:solidFill>
            <a:srgbClr val="643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000" y="1817999"/>
            <a:ext cx="234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imHei"/>
              </a:rPr>
              <a:t>行距100%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8000" y="917999"/>
            <a:ext cx="4644000" cy="2844000"/>
          </a:xfrm>
          <a:prstGeom prst="rect">
            <a:avLst/>
          </a:prstGeom>
          <a:solidFill>
            <a:srgbClr val="F8F6F0"/>
          </a:solidFill>
          <a:ln w="6350">
            <a:solidFill>
              <a:srgbClr val="C8C3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0" y="953999"/>
            <a:ext cx="453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786450"/>
                </a:solidFill>
                <a:latin typeface="Arial"/>
              </a:rPr>
              <a:t>CDR: 行距100%  字距0‰
AI: 行间距×1.0  字距0pt
PS: 行距100%  字距0pt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000" y="1313999"/>
            <a:ext cx="4536000" cy="24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spc="0">
                <a:solidFill>
                  <a:srgbClr val="282828"/>
                </a:solidFill>
                <a:latin typeface="SimSun"/>
              </a:rPr>
              <a:t>床前明月光，疑是地上霜。</a:t>
            </a:r>
          </a:p>
          <a:p>
            <a:pPr algn="l">
              <a:lnSpc>
                <a:spcPct val="100000"/>
              </a:lnSpc>
            </a:pPr>
            <a:r>
              <a:rPr sz="900" spc="0">
                <a:solidFill>
                  <a:srgbClr val="282828"/>
                </a:solidFill>
                <a:latin typeface="SimSun"/>
              </a:rPr>
              <a:t>举头望明月，低头思故乡。</a:t>
            </a:r>
          </a:p>
          <a:p>
            <a:pPr algn="l">
              <a:lnSpc>
                <a:spcPct val="100000"/>
              </a:lnSpc>
            </a:pPr>
            <a:r>
              <a:rPr sz="900" spc="0">
                <a:solidFill>
                  <a:srgbClr val="282828"/>
                </a:solidFill>
                <a:latin typeface="SimSun"/>
              </a:rPr>
              <a:t>欲穷千里目，更上一层楼。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68000" y="917999"/>
            <a:ext cx="4644000" cy="2844000"/>
          </a:xfrm>
          <a:prstGeom prst="rect">
            <a:avLst/>
          </a:prstGeom>
          <a:solidFill>
            <a:srgbClr val="EEECE6"/>
          </a:solidFill>
          <a:ln w="6350">
            <a:solidFill>
              <a:srgbClr val="C8C3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0000" y="953999"/>
            <a:ext cx="453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786450"/>
                </a:solidFill>
                <a:latin typeface="Arial"/>
              </a:rPr>
              <a:t>CDR: 行距100%  字距100‰
AI: 行间距×1.0  字距100pt
PS: 行距100%  字距100pt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40000" y="1313999"/>
            <a:ext cx="4536000" cy="24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spc="10000">
                <a:solidFill>
                  <a:srgbClr val="282828"/>
                </a:solidFill>
                <a:latin typeface="SimSun"/>
              </a:rPr>
              <a:t>床前明月光，疑是地上霜。</a:t>
            </a:r>
          </a:p>
          <a:p>
            <a:pPr algn="l">
              <a:lnSpc>
                <a:spcPct val="100000"/>
              </a:lnSpc>
            </a:pPr>
            <a:r>
              <a:rPr sz="900" spc="10000">
                <a:solidFill>
                  <a:srgbClr val="282828"/>
                </a:solidFill>
                <a:latin typeface="SimSun"/>
              </a:rPr>
              <a:t>举头望明月，低头思故乡。</a:t>
            </a:r>
          </a:p>
          <a:p>
            <a:pPr algn="l">
              <a:lnSpc>
                <a:spcPct val="100000"/>
              </a:lnSpc>
            </a:pPr>
            <a:r>
              <a:rPr sz="900" spc="10000">
                <a:solidFill>
                  <a:srgbClr val="282828"/>
                </a:solidFill>
                <a:latin typeface="SimSun"/>
              </a:rPr>
              <a:t>欲穷千里目，更上一层楼。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48000" y="917999"/>
            <a:ext cx="4644000" cy="2844000"/>
          </a:xfrm>
          <a:prstGeom prst="rect">
            <a:avLst/>
          </a:prstGeom>
          <a:solidFill>
            <a:srgbClr val="F8F6F0"/>
          </a:solidFill>
          <a:ln w="6350">
            <a:solidFill>
              <a:srgbClr val="C8C3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20000" y="953999"/>
            <a:ext cx="453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786450"/>
                </a:solidFill>
                <a:latin typeface="Arial"/>
              </a:rPr>
              <a:t>CDR: 行距100%  字距300‰
AI: 行间距×1.0  字距300pt
PS: 行距100%  字距300pt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20000" y="1313999"/>
            <a:ext cx="4536000" cy="24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spc="30000">
                <a:solidFill>
                  <a:srgbClr val="282828"/>
                </a:solidFill>
                <a:latin typeface="SimSun"/>
              </a:rPr>
              <a:t>床前明月光，疑是地上霜。</a:t>
            </a:r>
          </a:p>
          <a:p>
            <a:pPr algn="l">
              <a:lnSpc>
                <a:spcPct val="100000"/>
              </a:lnSpc>
            </a:pPr>
            <a:r>
              <a:rPr sz="900" spc="30000">
                <a:solidFill>
                  <a:srgbClr val="282828"/>
                </a:solidFill>
                <a:latin typeface="SimSun"/>
              </a:rPr>
              <a:t>举头望明月，低头思故乡。</a:t>
            </a:r>
          </a:p>
          <a:p>
            <a:pPr algn="l">
              <a:lnSpc>
                <a:spcPct val="100000"/>
              </a:lnSpc>
            </a:pPr>
            <a:r>
              <a:rPr sz="900" spc="30000">
                <a:solidFill>
                  <a:srgbClr val="282828"/>
                </a:solidFill>
                <a:latin typeface="SimSun"/>
              </a:rPr>
              <a:t>欲穷千里目，更上一层楼。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3797999"/>
            <a:ext cx="270000" cy="2844000"/>
          </a:xfrm>
          <a:prstGeom prst="rect">
            <a:avLst/>
          </a:prstGeom>
          <a:solidFill>
            <a:srgbClr val="643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000" y="4697999"/>
            <a:ext cx="234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imHei"/>
              </a:rPr>
              <a:t>行距150%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000" y="3797999"/>
            <a:ext cx="4644000" cy="2844000"/>
          </a:xfrm>
          <a:prstGeom prst="rect">
            <a:avLst/>
          </a:prstGeom>
          <a:solidFill>
            <a:srgbClr val="EEECE6"/>
          </a:solidFill>
          <a:ln w="6350">
            <a:solidFill>
              <a:srgbClr val="C8C3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0000" y="3833999"/>
            <a:ext cx="453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786450"/>
                </a:solidFill>
                <a:latin typeface="Arial"/>
              </a:rPr>
              <a:t>CDR: 行距150%  字距0‰
AI: 行间距×1.5  字距0pt
PS: 行距150%  字距0pt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0000" y="4193999"/>
            <a:ext cx="4536000" cy="24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spc="0">
                <a:solidFill>
                  <a:srgbClr val="282828"/>
                </a:solidFill>
                <a:latin typeface="SimSun"/>
              </a:rPr>
              <a:t>床前明月光，疑是地上霜。</a:t>
            </a:r>
          </a:p>
          <a:p>
            <a:pPr algn="l">
              <a:lnSpc>
                <a:spcPct val="150000"/>
              </a:lnSpc>
            </a:pPr>
            <a:r>
              <a:rPr sz="900" spc="0">
                <a:solidFill>
                  <a:srgbClr val="282828"/>
                </a:solidFill>
                <a:latin typeface="SimSun"/>
              </a:rPr>
              <a:t>举头望明月，低头思故乡。</a:t>
            </a:r>
          </a:p>
          <a:p>
            <a:pPr algn="l">
              <a:lnSpc>
                <a:spcPct val="150000"/>
              </a:lnSpc>
            </a:pPr>
            <a:r>
              <a:rPr sz="900" spc="0">
                <a:solidFill>
                  <a:srgbClr val="282828"/>
                </a:solidFill>
                <a:latin typeface="SimSun"/>
              </a:rPr>
              <a:t>欲穷千里目，更上一层楼。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68000" y="3797999"/>
            <a:ext cx="4644000" cy="2844000"/>
          </a:xfrm>
          <a:prstGeom prst="rect">
            <a:avLst/>
          </a:prstGeom>
          <a:solidFill>
            <a:srgbClr val="F8F6F0"/>
          </a:solidFill>
          <a:ln w="6350">
            <a:solidFill>
              <a:srgbClr val="C8C3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0000" y="3833999"/>
            <a:ext cx="453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786450"/>
                </a:solidFill>
                <a:latin typeface="Arial"/>
              </a:rPr>
              <a:t>CDR: 行距150%  字距100‰
AI: 行间距×1.5  字距100pt
PS: 行距150%  字距100pt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40000" y="4193999"/>
            <a:ext cx="4536000" cy="24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spc="10000">
                <a:solidFill>
                  <a:srgbClr val="282828"/>
                </a:solidFill>
                <a:latin typeface="SimSun"/>
              </a:rPr>
              <a:t>床前明月光，疑是地上霜。</a:t>
            </a:r>
          </a:p>
          <a:p>
            <a:pPr algn="l">
              <a:lnSpc>
                <a:spcPct val="150000"/>
              </a:lnSpc>
            </a:pPr>
            <a:r>
              <a:rPr sz="900" spc="10000">
                <a:solidFill>
                  <a:srgbClr val="282828"/>
                </a:solidFill>
                <a:latin typeface="SimSun"/>
              </a:rPr>
              <a:t>举头望明月，低头思故乡。</a:t>
            </a:r>
          </a:p>
          <a:p>
            <a:pPr algn="l">
              <a:lnSpc>
                <a:spcPct val="150000"/>
              </a:lnSpc>
            </a:pPr>
            <a:r>
              <a:rPr sz="900" spc="10000">
                <a:solidFill>
                  <a:srgbClr val="282828"/>
                </a:solidFill>
                <a:latin typeface="SimSun"/>
              </a:rPr>
              <a:t>欲穷千里目，更上一层楼。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48000" y="3797999"/>
            <a:ext cx="4644000" cy="2844000"/>
          </a:xfrm>
          <a:prstGeom prst="rect">
            <a:avLst/>
          </a:prstGeom>
          <a:solidFill>
            <a:srgbClr val="EEECE6"/>
          </a:solidFill>
          <a:ln w="6350">
            <a:solidFill>
              <a:srgbClr val="C8C3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20000" y="3833999"/>
            <a:ext cx="453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786450"/>
                </a:solidFill>
                <a:latin typeface="Arial"/>
              </a:rPr>
              <a:t>CDR: 行距150%  字距300‰
AI: 行间距×1.5  字距300pt
PS: 行距150%  字距300pt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20000" y="4193999"/>
            <a:ext cx="4536000" cy="24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spc="30000">
                <a:solidFill>
                  <a:srgbClr val="282828"/>
                </a:solidFill>
                <a:latin typeface="SimSun"/>
              </a:rPr>
              <a:t>床前明月光，疑是地上霜。</a:t>
            </a:r>
          </a:p>
          <a:p>
            <a:pPr algn="l">
              <a:lnSpc>
                <a:spcPct val="150000"/>
              </a:lnSpc>
            </a:pPr>
            <a:r>
              <a:rPr sz="900" spc="30000">
                <a:solidFill>
                  <a:srgbClr val="282828"/>
                </a:solidFill>
                <a:latin typeface="SimSun"/>
              </a:rPr>
              <a:t>举头望明月，低头思故乡。</a:t>
            </a:r>
          </a:p>
          <a:p>
            <a:pPr algn="l">
              <a:lnSpc>
                <a:spcPct val="150000"/>
              </a:lnSpc>
            </a:pPr>
            <a:r>
              <a:rPr sz="900" spc="30000">
                <a:solidFill>
                  <a:srgbClr val="282828"/>
                </a:solidFill>
                <a:latin typeface="SimSun"/>
              </a:rPr>
              <a:t>欲穷千里目，更上一层楼。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677999"/>
            <a:ext cx="270000" cy="2844000"/>
          </a:xfrm>
          <a:prstGeom prst="rect">
            <a:avLst/>
          </a:prstGeom>
          <a:solidFill>
            <a:srgbClr val="643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8000" y="7577999"/>
            <a:ext cx="234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imHei"/>
              </a:rPr>
              <a:t>行距200%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8000" y="6677999"/>
            <a:ext cx="4644000" cy="2844000"/>
          </a:xfrm>
          <a:prstGeom prst="rect">
            <a:avLst/>
          </a:prstGeom>
          <a:solidFill>
            <a:srgbClr val="F8F6F0"/>
          </a:solidFill>
          <a:ln w="6350">
            <a:solidFill>
              <a:srgbClr val="C8C3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0000" y="6713999"/>
            <a:ext cx="453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786450"/>
                </a:solidFill>
                <a:latin typeface="Arial"/>
              </a:rPr>
              <a:t>CDR: 行距200%  字距0‰
AI: 行间距×2.0  字距0pt
PS: 行距200%  字距0pt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0000" y="7073999"/>
            <a:ext cx="4536000" cy="24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200000"/>
              </a:lnSpc>
            </a:pPr>
            <a:r>
              <a:rPr sz="900" spc="0">
                <a:solidFill>
                  <a:srgbClr val="282828"/>
                </a:solidFill>
                <a:latin typeface="SimSun"/>
              </a:rPr>
              <a:t>床前明月光，疑是地上霜。</a:t>
            </a:r>
          </a:p>
          <a:p>
            <a:pPr algn="l">
              <a:lnSpc>
                <a:spcPct val="200000"/>
              </a:lnSpc>
            </a:pPr>
            <a:r>
              <a:rPr sz="900" spc="0">
                <a:solidFill>
                  <a:srgbClr val="282828"/>
                </a:solidFill>
                <a:latin typeface="SimSun"/>
              </a:rPr>
              <a:t>举头望明月，低头思故乡。</a:t>
            </a:r>
          </a:p>
          <a:p>
            <a:pPr algn="l">
              <a:lnSpc>
                <a:spcPct val="200000"/>
              </a:lnSpc>
            </a:pPr>
            <a:r>
              <a:rPr sz="900" spc="0">
                <a:solidFill>
                  <a:srgbClr val="282828"/>
                </a:solidFill>
                <a:latin typeface="SimSun"/>
              </a:rPr>
              <a:t>欲穷千里目，更上一层楼。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68000" y="6677999"/>
            <a:ext cx="4644000" cy="2844000"/>
          </a:xfrm>
          <a:prstGeom prst="rect">
            <a:avLst/>
          </a:prstGeom>
          <a:solidFill>
            <a:srgbClr val="EEECE6"/>
          </a:solidFill>
          <a:ln w="6350">
            <a:solidFill>
              <a:srgbClr val="C8C3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40000" y="6713999"/>
            <a:ext cx="453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786450"/>
                </a:solidFill>
                <a:latin typeface="Arial"/>
              </a:rPr>
              <a:t>CDR: 行距200%  字距100‰
AI: 行间距×2.0  字距100pt
PS: 行距200%  字距100pt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40000" y="7073999"/>
            <a:ext cx="4536000" cy="24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200000"/>
              </a:lnSpc>
            </a:pPr>
            <a:r>
              <a:rPr sz="900" spc="10000">
                <a:solidFill>
                  <a:srgbClr val="282828"/>
                </a:solidFill>
                <a:latin typeface="SimSun"/>
              </a:rPr>
              <a:t>床前明月光，疑是地上霜。</a:t>
            </a:r>
          </a:p>
          <a:p>
            <a:pPr algn="l">
              <a:lnSpc>
                <a:spcPct val="200000"/>
              </a:lnSpc>
            </a:pPr>
            <a:r>
              <a:rPr sz="900" spc="10000">
                <a:solidFill>
                  <a:srgbClr val="282828"/>
                </a:solidFill>
                <a:latin typeface="SimSun"/>
              </a:rPr>
              <a:t>举头望明月，低头思故乡。</a:t>
            </a:r>
          </a:p>
          <a:p>
            <a:pPr algn="l">
              <a:lnSpc>
                <a:spcPct val="200000"/>
              </a:lnSpc>
            </a:pPr>
            <a:r>
              <a:rPr sz="900" spc="10000">
                <a:solidFill>
                  <a:srgbClr val="282828"/>
                </a:solidFill>
                <a:latin typeface="SimSun"/>
              </a:rPr>
              <a:t>欲穷千里目，更上一层楼。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48000" y="6677999"/>
            <a:ext cx="4644000" cy="2844000"/>
          </a:xfrm>
          <a:prstGeom prst="rect">
            <a:avLst/>
          </a:prstGeom>
          <a:solidFill>
            <a:srgbClr val="F8F6F0"/>
          </a:solidFill>
          <a:ln w="6350">
            <a:solidFill>
              <a:srgbClr val="C8C3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20000" y="6713999"/>
            <a:ext cx="453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786450"/>
                </a:solidFill>
                <a:latin typeface="Arial"/>
              </a:rPr>
              <a:t>CDR: 行距200%  字距300‰
AI: 行间距×2.0  字距300pt
PS: 行距200%  字距300pt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20000" y="7073999"/>
            <a:ext cx="4536000" cy="24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200000"/>
              </a:lnSpc>
            </a:pPr>
            <a:r>
              <a:rPr sz="900" spc="30000">
                <a:solidFill>
                  <a:srgbClr val="282828"/>
                </a:solidFill>
                <a:latin typeface="SimSun"/>
              </a:rPr>
              <a:t>床前明月光，疑是地上霜。</a:t>
            </a:r>
          </a:p>
          <a:p>
            <a:pPr algn="l">
              <a:lnSpc>
                <a:spcPct val="200000"/>
              </a:lnSpc>
            </a:pPr>
            <a:r>
              <a:rPr sz="900" spc="30000">
                <a:solidFill>
                  <a:srgbClr val="282828"/>
                </a:solidFill>
                <a:latin typeface="SimSun"/>
              </a:rPr>
              <a:t>举头望明月，低头思故乡。</a:t>
            </a:r>
          </a:p>
          <a:p>
            <a:pPr algn="l">
              <a:lnSpc>
                <a:spcPct val="200000"/>
              </a:lnSpc>
            </a:pPr>
            <a:r>
              <a:rPr sz="900" spc="30000">
                <a:solidFill>
                  <a:srgbClr val="282828"/>
                </a:solidFill>
                <a:latin typeface="SimSun"/>
              </a:rPr>
              <a:t>欲穷千里目，更上一层楼。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0000" y="9540000"/>
            <a:ext cx="144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878"/>
                </a:solidFill>
                <a:latin typeface="SimSun"/>
              </a:rPr>
              <a:t>行距×字距矩阵实验  ·  宋体 SimSun 9pt  ·  CDR=CorelDRAW / AI=Illustrator / PS=Photoshop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