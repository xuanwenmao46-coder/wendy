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040"/>
            <a:ext cx="15120000" cy="504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1620000"/>
            <a:ext cx="43200" cy="28800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2000" y="1620000"/>
            <a:ext cx="122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EED791"/>
                </a:solidFill>
                <a:latin typeface="SimHei"/>
              </a:rPr>
              <a:t>字体编排
设计手册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2000" y="4140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A59E"/>
                </a:solidFill>
                <a:latin typeface="Arial"/>
              </a:rPr>
              <a:t>Typography &amp; Type Design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4968000"/>
            <a:ext cx="12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27D76"/>
                </a:solidFill>
                <a:latin typeface="SimSun"/>
              </a:rPr>
              <a:t>色彩系统  ·  拉丁字体  ·  汉字编排  ·  字号规范  ·  行距字距实验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7740000"/>
            <a:ext cx="2520000" cy="288000"/>
          </a:xfrm>
          <a:prstGeom prst="rect">
            <a:avLst/>
          </a:prstGeom>
          <a:solidFill>
            <a:srgbClr val="3C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4000" y="7758000"/>
            <a:ext cx="244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BC86E"/>
                </a:solidFill>
                <a:latin typeface="SimHei"/>
              </a:rPr>
              <a:t>色相环 CMYK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2000" y="7740000"/>
            <a:ext cx="2520000" cy="288000"/>
          </a:xfrm>
          <a:prstGeom prst="rect">
            <a:avLst/>
          </a:prstGeom>
          <a:solidFill>
            <a:srgbClr val="3C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4000" y="7758000"/>
            <a:ext cx="244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BC86E"/>
                </a:solidFill>
                <a:latin typeface="SimHei"/>
              </a:rPr>
              <a:t>30款拉丁字体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12000" y="7740000"/>
            <a:ext cx="2520000" cy="288000"/>
          </a:xfrm>
          <a:prstGeom prst="rect">
            <a:avLst/>
          </a:prstGeom>
          <a:solidFill>
            <a:srgbClr val="3C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4000" y="7758000"/>
            <a:ext cx="244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BC86E"/>
                </a:solidFill>
                <a:latin typeface="SimHei"/>
              </a:rPr>
              <a:t>汉字8大类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2000" y="7740000"/>
            <a:ext cx="2520000" cy="288000"/>
          </a:xfrm>
          <a:prstGeom prst="rect">
            <a:avLst/>
          </a:prstGeom>
          <a:solidFill>
            <a:srgbClr val="3C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4000" y="7758000"/>
            <a:ext cx="244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BC86E"/>
                </a:solidFill>
                <a:latin typeface="SimHei"/>
              </a:rPr>
              <a:t>字号规范表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12000" y="7740000"/>
            <a:ext cx="2520000" cy="288000"/>
          </a:xfrm>
          <a:prstGeom prst="rect">
            <a:avLst/>
          </a:prstGeom>
          <a:solidFill>
            <a:srgbClr val="3C3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4000" y="7758000"/>
            <a:ext cx="244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BC86E"/>
                </a:solidFill>
                <a:latin typeface="SimHei"/>
              </a:rPr>
              <a:t>行距·字距实验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000" y="88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SimSun"/>
              </a:rPr>
              <a:t>公共场域与数字叙事（二）  ·  设计编排工作手册  ·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色相环 · 纯色系（Pure Hue）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12色相  ·  印刷 CMYK 标准色值  ·  色相角 0°→330°（每30°一色）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纯色色相环 / Pure Hue  ·  色值基于 ISO 12647 印刷四色标准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972000"/>
            <a:ext cx="2268000" cy="28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M100  Y100  K0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8000" y="972000"/>
            <a:ext cx="2268000" cy="2808000"/>
          </a:xfrm>
          <a:prstGeom prst="rect">
            <a:avLst/>
          </a:prstGeom>
          <a:solidFill>
            <a:srgbClr val="FF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8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红橙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M70  Y100  K0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20000" y="972000"/>
            <a:ext cx="2268000" cy="28080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0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0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M50  Y100  K0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2000" y="972000"/>
            <a:ext cx="2268000" cy="2808000"/>
          </a:xfrm>
          <a:prstGeom prst="rect">
            <a:avLst/>
          </a:prstGeom>
          <a:solidFill>
            <a:srgbClr val="FFB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2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黄橙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2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M30  Y100  K0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44000" y="972000"/>
            <a:ext cx="2268000" cy="2808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4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4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M0  Y100  K0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456000" y="972000"/>
            <a:ext cx="2268000" cy="2808000"/>
          </a:xfrm>
          <a:prstGeom prst="rect">
            <a:avLst/>
          </a:prstGeom>
          <a:solidFill>
            <a:srgbClr val="99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5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黄绿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5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C40  M0  Y100  K0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000" y="4860000"/>
            <a:ext cx="2268000" cy="2808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C100  M0  Y100  K0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08000" y="4860000"/>
            <a:ext cx="2268000" cy="28080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08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蓝绿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8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C100  M0  Y40  K0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20000" y="4860000"/>
            <a:ext cx="2268000" cy="280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0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0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C100  M60  Y0  K0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2000" y="4860000"/>
            <a:ext cx="2268000" cy="2808000"/>
          </a:xfrm>
          <a:prstGeom prst="rect">
            <a:avLst/>
          </a:prstGeom>
          <a:solidFill>
            <a:srgbClr val="323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2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蓝紫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2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C80  M80  Y0  K0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44000" y="4860000"/>
            <a:ext cx="2268000" cy="2808000"/>
          </a:xfrm>
          <a:prstGeom prst="rect">
            <a:avLst/>
          </a:prstGeom>
          <a:solidFill>
            <a:srgbClr val="6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4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4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C60  M100  Y0  K0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456000" y="4860000"/>
            <a:ext cx="2268000" cy="2808000"/>
          </a:xfrm>
          <a:prstGeom prst="rect">
            <a:avLst/>
          </a:prstGeom>
          <a:solidFill>
            <a:srgbClr val="CC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5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红紫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5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C20  M100  Y20  K0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色相环 · 混白淡色调（Tint）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纯色 + 白色混合  ·  每色展示 25% / 50% / 75% 三级明度梯度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混白淡色调 / Tint  ·  C/M/Y值×50%示例（50%混白）·  CMYK印刷参考值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972000"/>
            <a:ext cx="2268000" cy="936000"/>
          </a:xfrm>
          <a:prstGeom prst="rect">
            <a:avLst/>
          </a:prstGeom>
          <a:solidFill>
            <a:srgbClr val="F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908000"/>
            <a:ext cx="2268000" cy="936000"/>
          </a:xfrm>
          <a:prstGeom prst="rect">
            <a:avLst/>
          </a:prstGeom>
          <a:solidFill>
            <a:srgbClr val="F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000" y="2844000"/>
            <a:ext cx="2268000" cy="936000"/>
          </a:xfrm>
          <a:prstGeom prst="rect">
            <a:avLst/>
          </a:prstGeom>
          <a:solidFill>
            <a:srgbClr val="F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M50  Y50  K0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8000" y="972000"/>
            <a:ext cx="2268000" cy="936000"/>
          </a:xfrm>
          <a:prstGeom prst="rect">
            <a:avLst/>
          </a:prstGeom>
          <a:solidFill>
            <a:srgbClr val="FFA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8000" y="1908000"/>
            <a:ext cx="2268000" cy="936000"/>
          </a:xfrm>
          <a:prstGeom prst="rect">
            <a:avLst/>
          </a:prstGeom>
          <a:solidFill>
            <a:srgbClr val="FFA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8000" y="2844000"/>
            <a:ext cx="2268000" cy="936000"/>
          </a:xfrm>
          <a:prstGeom prst="rect">
            <a:avLst/>
          </a:prstGeom>
          <a:solidFill>
            <a:srgbClr val="FFA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8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浅红橙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M35  Y50  K0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0000" y="972000"/>
            <a:ext cx="2268000" cy="936000"/>
          </a:xfrm>
          <a:prstGeom prst="rect">
            <a:avLst/>
          </a:prstGeom>
          <a:solidFill>
            <a:srgbClr val="FFB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0000" y="1908000"/>
            <a:ext cx="2268000" cy="936000"/>
          </a:xfrm>
          <a:prstGeom prst="rect">
            <a:avLst/>
          </a:prstGeom>
          <a:solidFill>
            <a:srgbClr val="FFB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0000" y="2844000"/>
            <a:ext cx="2268000" cy="936000"/>
          </a:xfrm>
          <a:prstGeom prst="rect">
            <a:avLst/>
          </a:prstGeom>
          <a:solidFill>
            <a:srgbClr val="FFB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M25  Y50  K0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2000" y="972000"/>
            <a:ext cx="2268000" cy="936000"/>
          </a:xfrm>
          <a:prstGeom prst="rect">
            <a:avLst/>
          </a:prstGeom>
          <a:solidFill>
            <a:srgbClr val="FFD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2000" y="1908000"/>
            <a:ext cx="2268000" cy="936000"/>
          </a:xfrm>
          <a:prstGeom prst="rect">
            <a:avLst/>
          </a:prstGeom>
          <a:solidFill>
            <a:srgbClr val="FFD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2000" y="2844000"/>
            <a:ext cx="2268000" cy="936000"/>
          </a:xfrm>
          <a:prstGeom prst="rect">
            <a:avLst/>
          </a:prstGeom>
          <a:solidFill>
            <a:srgbClr val="FFD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2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浅黄橙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2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M15  Y50  K0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4000" y="972000"/>
            <a:ext cx="2268000" cy="936000"/>
          </a:xfrm>
          <a:prstGeom prst="rect">
            <a:avLst/>
          </a:prstGeom>
          <a:solidFill>
            <a:srgbClr val="FF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4000" y="1908000"/>
            <a:ext cx="2268000" cy="936000"/>
          </a:xfrm>
          <a:prstGeom prst="rect">
            <a:avLst/>
          </a:prstGeom>
          <a:solidFill>
            <a:srgbClr val="FF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44000" y="2844000"/>
            <a:ext cx="2268000" cy="936000"/>
          </a:xfrm>
          <a:prstGeom prst="rect">
            <a:avLst/>
          </a:prstGeom>
          <a:solidFill>
            <a:srgbClr val="FF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4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4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M0  Y50  K0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456000" y="972000"/>
            <a:ext cx="2268000" cy="936000"/>
          </a:xfrm>
          <a:prstGeom prst="rect">
            <a:avLst/>
          </a:prstGeom>
          <a:solidFill>
            <a:srgbClr val="CC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456000" y="1908000"/>
            <a:ext cx="2268000" cy="936000"/>
          </a:xfrm>
          <a:prstGeom prst="rect">
            <a:avLst/>
          </a:prstGeom>
          <a:solidFill>
            <a:srgbClr val="CC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456000" y="2844000"/>
            <a:ext cx="2268000" cy="936000"/>
          </a:xfrm>
          <a:prstGeom prst="rect">
            <a:avLst/>
          </a:prstGeom>
          <a:solidFill>
            <a:srgbClr val="CC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5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浅黄绿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5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C20  M0  Y50  K0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6000" y="4860000"/>
            <a:ext cx="2268000" cy="936000"/>
          </a:xfrm>
          <a:prstGeom prst="rect">
            <a:avLst/>
          </a:prstGeom>
          <a:solidFill>
            <a:srgbClr val="7F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6000" y="5796000"/>
            <a:ext cx="2268000" cy="936000"/>
          </a:xfrm>
          <a:prstGeom prst="rect">
            <a:avLst/>
          </a:prstGeom>
          <a:solidFill>
            <a:srgbClr val="7F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6000" y="6732000"/>
            <a:ext cx="2268000" cy="936000"/>
          </a:xfrm>
          <a:prstGeom prst="rect">
            <a:avLst/>
          </a:prstGeom>
          <a:solidFill>
            <a:srgbClr val="7F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C50  M0  Y50  K0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8000" y="4860000"/>
            <a:ext cx="2268000" cy="936000"/>
          </a:xfrm>
          <a:prstGeom prst="rect">
            <a:avLst/>
          </a:prstGeom>
          <a:solidFill>
            <a:srgbClr val="7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08000" y="5796000"/>
            <a:ext cx="2268000" cy="936000"/>
          </a:xfrm>
          <a:prstGeom prst="rect">
            <a:avLst/>
          </a:prstGeom>
          <a:solidFill>
            <a:srgbClr val="7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08000" y="6732000"/>
            <a:ext cx="2268000" cy="936000"/>
          </a:xfrm>
          <a:prstGeom prst="rect">
            <a:avLst/>
          </a:prstGeom>
          <a:solidFill>
            <a:srgbClr val="7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08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浅蓝绿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C50  M0  Y20  K0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20000" y="4860000"/>
            <a:ext cx="2268000" cy="936000"/>
          </a:xfrm>
          <a:prstGeom prst="rect">
            <a:avLst/>
          </a:prstGeom>
          <a:solidFill>
            <a:srgbClr val="7F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20000" y="5796000"/>
            <a:ext cx="2268000" cy="936000"/>
          </a:xfrm>
          <a:prstGeom prst="rect">
            <a:avLst/>
          </a:prstGeom>
          <a:solidFill>
            <a:srgbClr val="7F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20000" y="6732000"/>
            <a:ext cx="2268000" cy="936000"/>
          </a:xfrm>
          <a:prstGeom prst="rect">
            <a:avLst/>
          </a:prstGeom>
          <a:solidFill>
            <a:srgbClr val="7F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0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0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C50  M30  Y0  K0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2000" y="4860000"/>
            <a:ext cx="2268000" cy="936000"/>
          </a:xfrm>
          <a:prstGeom prst="rect">
            <a:avLst/>
          </a:prstGeom>
          <a:solidFill>
            <a:srgbClr val="9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32000" y="5796000"/>
            <a:ext cx="2268000" cy="936000"/>
          </a:xfrm>
          <a:prstGeom prst="rect">
            <a:avLst/>
          </a:prstGeom>
          <a:solidFill>
            <a:srgbClr val="9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32000" y="6732000"/>
            <a:ext cx="2268000" cy="936000"/>
          </a:xfrm>
          <a:prstGeom prst="rect">
            <a:avLst/>
          </a:prstGeom>
          <a:solidFill>
            <a:srgbClr val="99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2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浅蓝紫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2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C40  M40  Y0  K0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44000" y="4860000"/>
            <a:ext cx="2268000" cy="936000"/>
          </a:xfrm>
          <a:prstGeom prst="rect">
            <a:avLst/>
          </a:prstGeom>
          <a:solidFill>
            <a:srgbClr val="B2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44000" y="5796000"/>
            <a:ext cx="2268000" cy="936000"/>
          </a:xfrm>
          <a:prstGeom prst="rect">
            <a:avLst/>
          </a:prstGeom>
          <a:solidFill>
            <a:srgbClr val="B2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44000" y="6732000"/>
            <a:ext cx="2268000" cy="936000"/>
          </a:xfrm>
          <a:prstGeom prst="rect">
            <a:avLst/>
          </a:prstGeom>
          <a:solidFill>
            <a:srgbClr val="B2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4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4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C30  M50  Y0  K0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456000" y="4860000"/>
            <a:ext cx="2268000" cy="936000"/>
          </a:xfrm>
          <a:prstGeom prst="rect">
            <a:avLst/>
          </a:prstGeom>
          <a:solidFill>
            <a:srgbClr val="E57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456000" y="5796000"/>
            <a:ext cx="2268000" cy="936000"/>
          </a:xfrm>
          <a:prstGeom prst="rect">
            <a:avLst/>
          </a:prstGeom>
          <a:solidFill>
            <a:srgbClr val="E57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456000" y="6732000"/>
            <a:ext cx="2268000" cy="936000"/>
          </a:xfrm>
          <a:prstGeom prst="rect">
            <a:avLst/>
          </a:prstGeom>
          <a:solidFill>
            <a:srgbClr val="E57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5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浅红紫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45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  M50  Y10  K0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色相环 · 混灰浊色调（Tone）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纯色 + 中性灰混合  ·  每色展示 K+10 / K+20 / K+30 三级灰度叠加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混灰浊色调 / Tone  ·  通过增加K值模拟加灰效果  ·  CMYK印刷参考值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972000"/>
            <a:ext cx="2268000" cy="936000"/>
          </a:xfrm>
          <a:prstGeom prst="rect">
            <a:avLst/>
          </a:prstGeom>
          <a:solidFill>
            <a:srgbClr val="E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908000"/>
            <a:ext cx="2268000" cy="936000"/>
          </a:xfrm>
          <a:prstGeom prst="rect">
            <a:avLst/>
          </a:prstGeom>
          <a:solidFill>
            <a:srgbClr val="CC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000" y="2844000"/>
            <a:ext cx="2268000" cy="936000"/>
          </a:xfrm>
          <a:prstGeom prst="rect">
            <a:avLst/>
          </a:prstGeom>
          <a:solidFill>
            <a:srgbClr val="B2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M70  Y70  K30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8000" y="972000"/>
            <a:ext cx="2268000" cy="936000"/>
          </a:xfrm>
          <a:prstGeom prst="rect">
            <a:avLst/>
          </a:prstGeom>
          <a:solidFill>
            <a:srgbClr val="E57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8000" y="1908000"/>
            <a:ext cx="2268000" cy="936000"/>
          </a:xfrm>
          <a:prstGeom prst="rect">
            <a:avLst/>
          </a:prstGeom>
          <a:solidFill>
            <a:srgbClr val="CC6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8000" y="2844000"/>
            <a:ext cx="2268000" cy="936000"/>
          </a:xfrm>
          <a:prstGeom prst="rect">
            <a:avLst/>
          </a:prstGeom>
          <a:solidFill>
            <a:srgbClr val="B25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8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浊红橙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M50  Y70  K30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0000" y="972000"/>
            <a:ext cx="2268000" cy="936000"/>
          </a:xfrm>
          <a:prstGeom prst="rect">
            <a:avLst/>
          </a:prstGeom>
          <a:solidFill>
            <a:srgbClr val="E59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0000" y="1908000"/>
            <a:ext cx="2268000" cy="936000"/>
          </a:xfrm>
          <a:prstGeom prst="rect">
            <a:avLst/>
          </a:prstGeom>
          <a:solidFill>
            <a:srgbClr val="CC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0000" y="2844000"/>
            <a:ext cx="2268000" cy="936000"/>
          </a:xfrm>
          <a:prstGeom prst="rect">
            <a:avLst/>
          </a:prstGeom>
          <a:solidFill>
            <a:srgbClr val="B27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M35  Y70  K30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2000" y="972000"/>
            <a:ext cx="2268000" cy="936000"/>
          </a:xfrm>
          <a:prstGeom prst="rect">
            <a:avLst/>
          </a:prstGeom>
          <a:solidFill>
            <a:srgbClr val="E5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2000" y="1908000"/>
            <a:ext cx="2268000" cy="936000"/>
          </a:xfrm>
          <a:prstGeom prst="rect">
            <a:avLst/>
          </a:prstGeom>
          <a:solidFill>
            <a:srgbClr val="CC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2000" y="2844000"/>
            <a:ext cx="2268000" cy="936000"/>
          </a:xfrm>
          <a:prstGeom prst="rect">
            <a:avLst/>
          </a:prstGeom>
          <a:solidFill>
            <a:srgbClr val="B2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2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浊黄橙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2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M20  Y70  K30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4000" y="972000"/>
            <a:ext cx="2268000" cy="936000"/>
          </a:xfrm>
          <a:prstGeom prst="rect">
            <a:avLst/>
          </a:prstGeom>
          <a:solidFill>
            <a:srgbClr val="E5E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4000" y="1908000"/>
            <a:ext cx="2268000" cy="936000"/>
          </a:xfrm>
          <a:prstGeom prst="rect">
            <a:avLst/>
          </a:prstGeom>
          <a:solidFill>
            <a:srgbClr val="CCC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44000" y="2844000"/>
            <a:ext cx="2268000" cy="936000"/>
          </a:xfrm>
          <a:prstGeom prst="rect">
            <a:avLst/>
          </a:prstGeom>
          <a:solidFill>
            <a:srgbClr val="B2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4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4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M0  Y70  K30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456000" y="972000"/>
            <a:ext cx="2268000" cy="936000"/>
          </a:xfrm>
          <a:prstGeom prst="rect">
            <a:avLst/>
          </a:prstGeom>
          <a:solidFill>
            <a:srgbClr val="A0E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456000" y="1908000"/>
            <a:ext cx="2268000" cy="936000"/>
          </a:xfrm>
          <a:prstGeom prst="rect">
            <a:avLst/>
          </a:prstGeom>
          <a:solidFill>
            <a:srgbClr val="8EC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456000" y="2844000"/>
            <a:ext cx="2268000" cy="936000"/>
          </a:xfrm>
          <a:prstGeom prst="rect">
            <a:avLst/>
          </a:prstGeom>
          <a:solidFill>
            <a:srgbClr val="7C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5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浊黄绿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5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C30  M0  Y70  K30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6000" y="4860000"/>
            <a:ext cx="2268000" cy="936000"/>
          </a:xfrm>
          <a:prstGeom prst="rect">
            <a:avLst/>
          </a:prstGeom>
          <a:solidFill>
            <a:srgbClr val="44E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6000" y="5796000"/>
            <a:ext cx="2268000" cy="936000"/>
          </a:xfrm>
          <a:prstGeom prst="rect">
            <a:avLst/>
          </a:prstGeom>
          <a:solidFill>
            <a:srgbClr val="3DC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6000" y="6732000"/>
            <a:ext cx="2268000" cy="936000"/>
          </a:xfrm>
          <a:prstGeom prst="rect">
            <a:avLst/>
          </a:prstGeom>
          <a:solidFill>
            <a:srgbClr val="35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C70  M0  Y70  K30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8000" y="4860000"/>
            <a:ext cx="2268000" cy="936000"/>
          </a:xfrm>
          <a:prstGeom prst="rect">
            <a:avLst/>
          </a:prstGeom>
          <a:solidFill>
            <a:srgbClr val="44E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08000" y="5796000"/>
            <a:ext cx="2268000" cy="936000"/>
          </a:xfrm>
          <a:prstGeom prst="rect">
            <a:avLst/>
          </a:prstGeom>
          <a:solidFill>
            <a:srgbClr val="3DC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08000" y="6732000"/>
            <a:ext cx="2268000" cy="936000"/>
          </a:xfrm>
          <a:prstGeom prst="rect">
            <a:avLst/>
          </a:prstGeom>
          <a:solidFill>
            <a:srgbClr val="35B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08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浊蓝绿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C70  M0  Y28  K30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20000" y="4860000"/>
            <a:ext cx="2268000" cy="936000"/>
          </a:xfrm>
          <a:prstGeom prst="rect">
            <a:avLst/>
          </a:prstGeom>
          <a:solidFill>
            <a:srgbClr val="448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20000" y="5796000"/>
            <a:ext cx="2268000" cy="936000"/>
          </a:xfrm>
          <a:prstGeom prst="rect">
            <a:avLst/>
          </a:prstGeom>
          <a:solidFill>
            <a:srgbClr val="3D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20000" y="6732000"/>
            <a:ext cx="2268000" cy="936000"/>
          </a:xfrm>
          <a:prstGeom prst="rect">
            <a:avLst/>
          </a:prstGeom>
          <a:solidFill>
            <a:srgbClr val="35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0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0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C70  M42  Y0  K30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2000" y="4860000"/>
            <a:ext cx="2268000" cy="936000"/>
          </a:xfrm>
          <a:prstGeom prst="rect">
            <a:avLst/>
          </a:prstGeom>
          <a:solidFill>
            <a:srgbClr val="646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32000" y="5796000"/>
            <a:ext cx="2268000" cy="936000"/>
          </a:xfrm>
          <a:prstGeom prst="rect">
            <a:avLst/>
          </a:prstGeom>
          <a:solidFill>
            <a:srgbClr val="595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32000" y="6732000"/>
            <a:ext cx="2268000" cy="936000"/>
          </a:xfrm>
          <a:prstGeom prst="rect">
            <a:avLst/>
          </a:prstGeom>
          <a:solidFill>
            <a:srgbClr val="4E4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2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浊蓝紫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2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C56  M56  Y0  K30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44000" y="4860000"/>
            <a:ext cx="2268000" cy="936000"/>
          </a:xfrm>
          <a:prstGeom prst="rect">
            <a:avLst/>
          </a:prstGeom>
          <a:solidFill>
            <a:srgbClr val="854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44000" y="5796000"/>
            <a:ext cx="2268000" cy="936000"/>
          </a:xfrm>
          <a:prstGeom prst="rect">
            <a:avLst/>
          </a:prstGeom>
          <a:solidFill>
            <a:srgbClr val="763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44000" y="6732000"/>
            <a:ext cx="2268000" cy="936000"/>
          </a:xfrm>
          <a:prstGeom prst="rect">
            <a:avLst/>
          </a:prstGeom>
          <a:solidFill>
            <a:srgbClr val="673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4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4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C42  M70  Y0  K30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456000" y="4860000"/>
            <a:ext cx="2268000" cy="936000"/>
          </a:xfrm>
          <a:prstGeom prst="rect">
            <a:avLst/>
          </a:prstGeom>
          <a:solidFill>
            <a:srgbClr val="C54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456000" y="5796000"/>
            <a:ext cx="2268000" cy="936000"/>
          </a:xfrm>
          <a:prstGeom prst="rect">
            <a:avLst/>
          </a:prstGeom>
          <a:solidFill>
            <a:srgbClr val="AF3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456000" y="6732000"/>
            <a:ext cx="2268000" cy="936000"/>
          </a:xfrm>
          <a:prstGeom prst="rect">
            <a:avLst/>
          </a:prstGeom>
          <a:solidFill>
            <a:srgbClr val="993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5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浊红紫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45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C14  M70  Y14  K30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色相环 · 混黑暗色调（Shade）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纯色 + 黑色混合  ·  每色展示 K+20 / K+40 / K+60 三级加深梯度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混黑暗色调 / Shade  ·  K值叠加加深色相  ·  CMYK印刷参考值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972000"/>
            <a:ext cx="2268000" cy="93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908000"/>
            <a:ext cx="2268000" cy="936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000" y="2844000"/>
            <a:ext cx="2268000" cy="936000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M100  Y100  K40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8000" y="972000"/>
            <a:ext cx="2268000" cy="936000"/>
          </a:xfrm>
          <a:prstGeom prst="rect">
            <a:avLst/>
          </a:prstGeom>
          <a:solidFill>
            <a:srgbClr val="CC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8000" y="1908000"/>
            <a:ext cx="2268000" cy="936000"/>
          </a:xfrm>
          <a:prstGeom prst="rect">
            <a:avLst/>
          </a:prstGeom>
          <a:solidFill>
            <a:srgbClr val="99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8000" y="2844000"/>
            <a:ext cx="2268000" cy="936000"/>
          </a:xfrm>
          <a:prstGeom prst="rect">
            <a:avLst/>
          </a:prstGeom>
          <a:solidFill>
            <a:srgbClr val="66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8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暗红橙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M70  Y100  K40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0000" y="972000"/>
            <a:ext cx="2268000" cy="936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0000" y="1908000"/>
            <a:ext cx="2268000" cy="936000"/>
          </a:xfrm>
          <a:prstGeom prst="rect">
            <a:avLst/>
          </a:prstGeom>
          <a:solidFill>
            <a:srgbClr val="99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0000" y="2844000"/>
            <a:ext cx="2268000" cy="936000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M50  Y100  K40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2000" y="972000"/>
            <a:ext cx="2268000" cy="936000"/>
          </a:xfrm>
          <a:prstGeom prst="rect">
            <a:avLst/>
          </a:prstGeom>
          <a:solidFill>
            <a:srgbClr val="CC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2000" y="1908000"/>
            <a:ext cx="2268000" cy="936000"/>
          </a:xfrm>
          <a:prstGeom prst="rect">
            <a:avLst/>
          </a:prstGeom>
          <a:solidFill>
            <a:srgbClr val="9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2000" y="2844000"/>
            <a:ext cx="2268000" cy="936000"/>
          </a:xfrm>
          <a:prstGeom prst="rect">
            <a:avLst/>
          </a:prstGeom>
          <a:solidFill>
            <a:srgbClr val="664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2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暗黄橙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2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M30  Y100  K40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4000" y="972000"/>
            <a:ext cx="2268000" cy="936000"/>
          </a:xfrm>
          <a:prstGeom prst="rect">
            <a:avLst/>
          </a:prstGeom>
          <a:solidFill>
            <a:srgbClr val="C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4000" y="1908000"/>
            <a:ext cx="2268000" cy="936000"/>
          </a:xfrm>
          <a:prstGeom prst="rect">
            <a:avLst/>
          </a:prstGeom>
          <a:solidFill>
            <a:srgbClr val="99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44000" y="2844000"/>
            <a:ext cx="2268000" cy="936000"/>
          </a:xfrm>
          <a:prstGeom prst="rect">
            <a:avLst/>
          </a:prstGeom>
          <a:solidFill>
            <a:srgbClr val="66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4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4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C0  M0  Y100  K40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456000" y="972000"/>
            <a:ext cx="2268000" cy="936000"/>
          </a:xfrm>
          <a:prstGeom prst="rect">
            <a:avLst/>
          </a:prstGeom>
          <a:solidFill>
            <a:srgbClr val="7A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456000" y="1908000"/>
            <a:ext cx="2268000" cy="936000"/>
          </a:xfrm>
          <a:prstGeom prst="rect">
            <a:avLst/>
          </a:prstGeom>
          <a:solidFill>
            <a:srgbClr val="5B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456000" y="2844000"/>
            <a:ext cx="2268000" cy="936000"/>
          </a:xfrm>
          <a:prstGeom prst="rect">
            <a:avLst/>
          </a:prstGeom>
          <a:solidFill>
            <a:srgbClr val="3D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56000" y="3844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暗黄绿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56000" y="4086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C40  M0  Y100  K40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6000" y="4860000"/>
            <a:ext cx="2268000" cy="9360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6000" y="5796000"/>
            <a:ext cx="2268000" cy="9360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6000" y="6732000"/>
            <a:ext cx="2268000" cy="936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C100  M0  Y100  K40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8000" y="4860000"/>
            <a:ext cx="2268000" cy="936000"/>
          </a:xfrm>
          <a:prstGeom prst="rect">
            <a:avLst/>
          </a:prstGeom>
          <a:solidFill>
            <a:srgbClr val="00C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08000" y="5796000"/>
            <a:ext cx="2268000" cy="936000"/>
          </a:xfrm>
          <a:prstGeom prst="rect">
            <a:avLst/>
          </a:prstGeom>
          <a:solidFill>
            <a:srgbClr val="00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08000" y="6732000"/>
            <a:ext cx="2268000" cy="936000"/>
          </a:xfrm>
          <a:prstGeom prst="rect">
            <a:avLst/>
          </a:prstGeom>
          <a:solidFill>
            <a:srgbClr val="006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08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暗蓝绿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C100  M0  Y40  K40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20000" y="4860000"/>
            <a:ext cx="2268000" cy="936000"/>
          </a:xfrm>
          <a:prstGeom prst="rect">
            <a:avLst/>
          </a:prstGeom>
          <a:solidFill>
            <a:srgbClr val="005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20000" y="5796000"/>
            <a:ext cx="2268000" cy="936000"/>
          </a:xfrm>
          <a:prstGeom prst="rect">
            <a:avLst/>
          </a:prstGeom>
          <a:solidFill>
            <a:srgbClr val="00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20000" y="6732000"/>
            <a:ext cx="2268000" cy="936000"/>
          </a:xfrm>
          <a:prstGeom prst="rect">
            <a:avLst/>
          </a:prstGeom>
          <a:solidFill>
            <a:srgbClr val="002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0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0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C100  M60  Y0  K40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2000" y="4860000"/>
            <a:ext cx="2268000" cy="936000"/>
          </a:xfrm>
          <a:prstGeom prst="rect">
            <a:avLst/>
          </a:prstGeom>
          <a:solidFill>
            <a:srgbClr val="282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32000" y="5796000"/>
            <a:ext cx="2268000" cy="936000"/>
          </a:xfrm>
          <a:prstGeom prst="rect">
            <a:avLst/>
          </a:prstGeom>
          <a:solidFill>
            <a:srgbClr val="1E1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32000" y="6732000"/>
            <a:ext cx="2268000" cy="936000"/>
          </a:xfrm>
          <a:prstGeom prst="rect">
            <a:avLst/>
          </a:prstGeom>
          <a:solidFill>
            <a:srgbClr val="141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2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暗蓝紫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2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C80  M80  Y0  K40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44000" y="4860000"/>
            <a:ext cx="2268000" cy="936000"/>
          </a:xfrm>
          <a:prstGeom prst="rect">
            <a:avLst/>
          </a:prstGeom>
          <a:solidFill>
            <a:srgbClr val="51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44000" y="5796000"/>
            <a:ext cx="2268000" cy="936000"/>
          </a:xfrm>
          <a:prstGeom prst="rect">
            <a:avLst/>
          </a:prstGeom>
          <a:solidFill>
            <a:srgbClr val="3D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44000" y="6732000"/>
            <a:ext cx="2268000" cy="936000"/>
          </a:xfrm>
          <a:prstGeom prst="rect">
            <a:avLst/>
          </a:prstGeom>
          <a:solidFill>
            <a:srgbClr val="28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4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4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C60  M100  Y0  K40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456000" y="4860000"/>
            <a:ext cx="2268000" cy="936000"/>
          </a:xfrm>
          <a:prstGeom prst="rect">
            <a:avLst/>
          </a:prstGeom>
          <a:solidFill>
            <a:srgbClr val="A3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456000" y="5796000"/>
            <a:ext cx="2268000" cy="936000"/>
          </a:xfrm>
          <a:prstGeom prst="rect">
            <a:avLst/>
          </a:prstGeom>
          <a:solidFill>
            <a:srgbClr val="7A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456000" y="6732000"/>
            <a:ext cx="2268000" cy="936000"/>
          </a:xfrm>
          <a:prstGeom prst="rect">
            <a:avLst/>
          </a:prstGeom>
          <a:solidFill>
            <a:srgbClr val="51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56000" y="7732800"/>
            <a:ext cx="226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82828"/>
                </a:solidFill>
                <a:latin typeface="SimHei"/>
              </a:rPr>
              <a:t>暗红紫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456000" y="7974000"/>
            <a:ext cx="22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554E"/>
                </a:solidFill>
                <a:latin typeface="Arial"/>
              </a:rPr>
              <a:t>C20  M100  Y20  K40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常用拉丁字体全字母编排（01–10）无衬线体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完整字母表 A–Z a–z + 数字与常用符号标本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字体标本 / Typeface Specimen  ·  字库版权归各字体公司所有  ·  仅供学习编排参考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17999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1043998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97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Helvetica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000" y="1223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Swiss 721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6000" y="1061999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2000" y="1072799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0" y="953999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0" y="1331998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" y="1807198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000" y="1835998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1961997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" y="1889998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Avant Garde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2141998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AvantGarde Bk BT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16000" y="1979998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2000" y="1990798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871998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Century Gothic"/>
              </a:rPr>
              <a:t>AaBbCcDdEeFfGgHhIiJjKkLlMmNnOoPpQqRrSsTtUuVvWwXxYyZz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6000" y="2249997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Century Gothic"/>
              </a:rPr>
              <a:t>0123456789  !?&amp;@#$.,;:—()[]{}'"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2725197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000" y="2753997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" y="2879996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000" y="2807997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Bell Centennial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000" y="3059997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Bell Centennial Std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16000" y="2897997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2000" y="2908797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6000" y="2789997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 Narrow"/>
              </a:rPr>
              <a:t>AaBbCcDdEeFfGgHhIiJjKkLlMmNnOoPpQqRrSsTtUuVvWwXxYyZz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6000" y="3167996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 Narrow"/>
              </a:rPr>
              <a:t>0123456789  !?&amp;@#$.,;:—()[]{}'"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00" y="3643196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6000" y="3671996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00" y="3797995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000" y="3725996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Bell Gothic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000" y="3977996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Bell Gothic Std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16000" y="3815996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2000" y="3826796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6000" y="3707996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6000" y="4085995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000" y="4561195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6000" y="4589995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00" y="4715994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000" y="4643995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DIN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000" y="4895995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DIN Next LT Pro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16000" y="4733995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52000" y="4744795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6000" y="4625995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6000" y="5003994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6000" y="5479194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6000" y="5507994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00" y="5633993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6000" y="5561994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Franklin Gothic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000" y="5813994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Franklin Gothic Demi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16000" y="5651994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2000" y="5662794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6000" y="5543994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Franklin Gothic Book"/>
              </a:rPr>
              <a:t>AaBbCcDdEeFfGgHhIiJjKkLlMmNnOoPpQqRrSsTtUuVvWwXxYyZz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16000" y="5921993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Franklin Gothic Book"/>
              </a:rPr>
              <a:t>0123456789  !?&amp;@#$.,;:—()[]{}'"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000" y="6397193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6000" y="6425993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00" y="6551992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000" y="6479993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Frutiger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000" y="6731993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Humanist 777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16000" y="6569993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52000" y="6580793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6000" y="6461993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16000" y="6839992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6000" y="7315192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6000" y="7343992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00" y="7469991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6000" y="7397992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Futura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000" y="7649992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Futura Bk BT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16000" y="7487992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2000" y="7498792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6000" y="7379992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Century Gothic"/>
              </a:rPr>
              <a:t>AaBbCcDdEeFfGgHhIiJjKkLlMmNnOoPpQqRrSsTtUuVvWwXxYyZz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6000" y="7757991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Century Gothic"/>
              </a:rPr>
              <a:t>0123456789  !?&amp;@#$.,;:—()[]{}'"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6000" y="8233191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16000" y="8261991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8000" y="8387990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6000" y="8315991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Gill Sans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000" y="8567991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Gill Sans MT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16000" y="8405991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52000" y="8416791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16000" y="8297991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ill Sans MT"/>
              </a:rPr>
              <a:t>AaBbCcDdEeFfGgHhIiJjKkLlMmNnOoPpQqRrSsTtUuVvWwXxYyZz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6000" y="8675990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ill Sans MT"/>
              </a:rPr>
              <a:t>0123456789  !?&amp;@#$.,;:—()[]{}'"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6000" y="9151190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6000" y="9179990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8000" y="9305989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000" y="923399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Eurostile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6000" y="948599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Eurostile BT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916000" y="9323990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52000" y="9334790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16000" y="9215990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16000" y="9593989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6000" y="10069189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常用拉丁字体全字母编排（11–20）无衬线体·有衬线体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完整字母表 A–Z a–z + 数字与常用符号标本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字体标本 / Typeface Specimen  ·  字库版权归各字体公司所有  ·  仅供学习编排参考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17999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1043998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97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000" y="1223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Eras Medium ITC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6000" y="1061999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2000" y="1072799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0" y="953999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0" y="1331998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" y="1807198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000" y="1835998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1961997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" y="1889998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News Gothic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2141998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News Gothic MT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16000" y="1979998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2000" y="1990798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871998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 Narrow"/>
              </a:rPr>
              <a:t>AaBbCcDdEeFfGgHhIiJjKkLlMmNnOoPpQqRrSsTtUuVvWwXxYyZz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6000" y="2249997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 Narrow"/>
              </a:rPr>
              <a:t>0123456789  !?&amp;@#$.,;:—()[]{}'"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2725197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000" y="2753997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" y="2879996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000" y="2807997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Optima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000" y="3059997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ZapfHumnsl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16000" y="2897997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2000" y="2908797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6000" y="2789997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ill Sans MT"/>
              </a:rPr>
              <a:t>AaBbCcDdEeFfGgHhIiJjKkLlMmNnOoPpQqRrSsTtUuVvWwXxYyZz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6000" y="3167996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ill Sans MT"/>
              </a:rPr>
              <a:t>0123456789  !?&amp;@#$.,;:—()[]{}'"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00" y="3643196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6000" y="3671996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00" y="3797995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000" y="3725996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Univers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000" y="3977996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Zurich BT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16000" y="3815996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2000" y="3826796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6000" y="3707996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AaBbCcDdEeFfGgHhIiJjKkLlMmNnOoPpQqRrSsTtUuVvWwXxYyZz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6000" y="4085995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Arial"/>
              </a:rPr>
              <a:t>0123456789  !?&amp;@#$.,;:—()[]{}'"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000" y="4561195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6000" y="4589995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00" y="4715994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000" y="4643995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VAG Rounded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000" y="4895995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VAG Rounded BT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16000" y="4733995"/>
            <a:ext cx="828000" cy="251999"/>
          </a:xfrm>
          <a:prstGeom prst="rect">
            <a:avLst/>
          </a:prstGeom>
          <a:solidFill>
            <a:srgbClr val="32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52000" y="4744795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无衬线体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6000" y="4625995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Century Gothic"/>
              </a:rPr>
              <a:t>AaBbCcDdEeFfGgHhIiJjKkLlMmNnOoPpQqRrSsTtUuVvWwXxYyZz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6000" y="5003994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Century Gothic"/>
              </a:rPr>
              <a:t>0123456789  !?&amp;@#$.,;:—()[]{}'"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6000" y="5479194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6000" y="5507994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00" y="5633993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6000" y="5561994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Caslon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000" y="5813994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Adobe Caslon Pro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16000" y="5651994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2000" y="5662794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6000" y="5543994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aramond"/>
              </a:rPr>
              <a:t>AaBbCcDdEeFfGgHhIiJjKkLlMmNnOoPpQqRrSsTtUuVvWwXxYyZz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16000" y="5921993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aramond"/>
              </a:rPr>
              <a:t>0123456789  !?&amp;@#$.,;:—()[]{}'"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000" y="6397193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6000" y="6425993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00" y="6551992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000" y="6479993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Garamond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000" y="6731993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Garamond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16000" y="6569993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52000" y="6580793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6000" y="6461993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aramond"/>
              </a:rPr>
              <a:t>AaBbCcDdEeFfGgHhIiJjKkLlMmNnOoPpQqRrSsTtUuVvWwXxYyZz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16000" y="6839992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aramond"/>
              </a:rPr>
              <a:t>0123456789  !?&amp;@#$.,;:—()[]{}'"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6000" y="7315192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6000" y="7343992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00" y="7469991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6000" y="7397992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Bembo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000" y="7649992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Aldine 401 BT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16000" y="7487992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2000" y="7498792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6000" y="7379992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eorgia"/>
              </a:rPr>
              <a:t>AaBbCcDdEeFfGgHhIiJjKkLlMmNnOoPpQqRrSsTtUuVvWwXxYyZz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6000" y="7757991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eorgia"/>
              </a:rPr>
              <a:t>0123456789  !?&amp;@#$.,;:—()[]{}'"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6000" y="8233191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16000" y="8261991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8000" y="8387990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6000" y="8315991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Bodoni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000" y="8567991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Bodoni MT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16000" y="8405991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52000" y="8416791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16000" y="8297991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Bodoni MT"/>
              </a:rPr>
              <a:t>AaBbCcDdEeFfGgHhIiJjKkLlMmNnOoPpQqRrSsTtUuVvWwXxYyZz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6000" y="8675990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Bodoni MT"/>
              </a:rPr>
              <a:t>0123456789  !?&amp;@#$.,;:—()[]{}'"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6000" y="9151190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6000" y="9179990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8000" y="9305989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000" y="923399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Clarendon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6000" y="948599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Clarendon BT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916000" y="9323990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52000" y="9334790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16000" y="9215990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eorgia"/>
              </a:rPr>
              <a:t>AaBbCcDdEeFfGgHhIiJjKkLlMmNnOoPpQqRrSsTtUuVvWwXxYyZz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16000" y="9593989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eorgia"/>
              </a:rPr>
              <a:t>0123456789  !?&amp;@#$.,;:—()[]{}'"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6000" y="10069189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常用拉丁字体全字母编排（21–30）有衬线体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完整字母表 A–Z a–z + 数字与常用符号标本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字体标本 / Typeface Specimen  ·  字库版权归各字体公司所有  ·  仅供学习编排参考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917999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1043998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97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Courier 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000" y="1223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Courier New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6000" y="1061999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2000" y="1072799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0" y="953999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Courier New"/>
              </a:rPr>
              <a:t>AaBbCcDdEeFfGgHhIiJjKkLlMmNnOoPpQqRrSsTtUuVvWwXxYyZz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0" y="1331998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Courier New"/>
              </a:rPr>
              <a:t>0123456789  !?&amp;@#$.,;:—()[]{}'"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" y="1807198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000" y="1835998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1961997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" y="1889998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Excelsior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2141998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Century 791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16000" y="1979998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2000" y="1990798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871998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Century Schoolbook"/>
              </a:rPr>
              <a:t>AaBbCcDdEeFfGgHhIiJjKkLlMmNnOoPpQqRrSsTtUuVvWwXxYyZz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6000" y="2249997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Century Schoolbook"/>
              </a:rPr>
              <a:t>0123456789  !?&amp;@#$.,;:—()[]{}'"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2725197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6000" y="2753997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" y="2879996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000" y="2807997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Lucida Bright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000" y="3059997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Lucida Bright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16000" y="2897997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2000" y="2908797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6000" y="2789997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Lucida Bright"/>
              </a:rPr>
              <a:t>AaBbCcDdEeFfGgHhIiJjKkLlMmNnOoPpQqRrSsTtUuVvWwXxYyZz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6000" y="3167996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Lucida Bright"/>
              </a:rPr>
              <a:t>0123456789  !?&amp;@#$.,;:—()[]{}'"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00" y="3643196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6000" y="3671996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00" y="3797995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000" y="3725996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Minion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000" y="3977996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Minion Pro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16000" y="3815996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2000" y="3826796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6000" y="3707996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aramond"/>
              </a:rPr>
              <a:t>AaBbCcDdEeFfGgHhIiJjKkLlMmNnOoPpQqRrSsTtUuVvWwXxYyZz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6000" y="4085995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aramond"/>
              </a:rPr>
              <a:t>0123456789  !?&amp;@#$.,;:—()[]{}'"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6000" y="4561195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6000" y="4589995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00" y="4715994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000" y="4643995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Perpetua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000" y="4895995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Perpetua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16000" y="4733995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52000" y="4744795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6000" y="4625995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Perpetua"/>
              </a:rPr>
              <a:t>AaBbCcDdEeFfGgHhIiJjKkLlMmNnOoPpQqRrSsTtUuVvWwXxYyZz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6000" y="5003994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Perpetua"/>
              </a:rPr>
              <a:t>0123456789  !?&amp;@#$.,;:—()[]{}'"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6000" y="5479194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6000" y="5507994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00" y="5633993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6000" y="5561994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Sabon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000" y="5813994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Class Garamond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16000" y="5651994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2000" y="5662794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6000" y="5543994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aramond"/>
              </a:rPr>
              <a:t>AaBbCcDdEeFfGgHhIiJjKkLlMmNnOoPpQqRrSsTtUuVvWwXxYyZz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16000" y="5921993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aramond"/>
              </a:rPr>
              <a:t>0123456789  !?&amp;@#$.,;:—()[]{}'"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000" y="6397193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6000" y="6425993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00" y="6551992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000" y="6479993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Stempel Schneidler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000" y="6731993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Corel: Schneidler BT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16000" y="6569993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52000" y="6580793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6000" y="6461993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eorgia"/>
              </a:rPr>
              <a:t>AaBbCcDdEeFfGgHhIiJjKkLlMmNnOoPpQqRrSsTtUuVvWwXxYyZz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16000" y="6839992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eorgia"/>
              </a:rPr>
              <a:t>0123456789  !?&amp;@#$.,;:—()[]{}'"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6000" y="7315192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6000" y="7343992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00" y="7469991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6000" y="7397992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Times New Roman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000" y="7649992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Times New Roman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16000" y="7487992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2000" y="7498792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6000" y="7379992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Times New Roman"/>
              </a:rPr>
              <a:t>AaBbCcDdEeFfGgHhIiJjKkLlMmNnOoPpQqRrSsTtUuVvWwXxYyZz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6000" y="7757991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Times New Roman"/>
              </a:rPr>
              <a:t>0123456789  !?&amp;@#$.,;:—()[]{}'"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6000" y="8233191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16000" y="8261991"/>
            <a:ext cx="14688000" cy="889199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8000" y="8387990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6000" y="8315991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Trajan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000" y="8567991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Trajan Pro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16000" y="8405991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52000" y="8416791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16000" y="8297991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Perpetua"/>
              </a:rPr>
              <a:t>AaBbCcDdEeFfGgHhIiJjKkLlMmNnOoPpQqRrSsTtUuVvWwXxYyZz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6000" y="8675990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Perpetua"/>
              </a:rPr>
              <a:t>0123456789  !?&amp;@#$.,;:—()[]{}'"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6000" y="9151190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6000" y="9179990"/>
            <a:ext cx="14688000" cy="889199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8000" y="9305989"/>
            <a:ext cx="6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A582"/>
                </a:solidFill>
                <a:latin typeface="Arial"/>
              </a:rPr>
              <a:t>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000" y="923399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31C"/>
                </a:solidFill>
                <a:latin typeface="Arial"/>
              </a:rPr>
              <a:t>Modern No.20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6000" y="948599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2786C"/>
                </a:solidFill>
                <a:latin typeface="Arial"/>
              </a:rPr>
              <a:t>Modern No.20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916000" y="9323990"/>
            <a:ext cx="828000" cy="251999"/>
          </a:xfrm>
          <a:prstGeom prst="rect">
            <a:avLst/>
          </a:prstGeom>
          <a:solidFill>
            <a:srgbClr val="8C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52000" y="9334790"/>
            <a:ext cx="75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imHei"/>
              </a:rPr>
              <a:t>有衬线体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16000" y="9215990"/>
            <a:ext cx="10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eorgia"/>
              </a:rPr>
              <a:t>AaBbCcDdEeFfGgHhIiJjKkLlMmNnOoPpQqRrSsTtUuVvWwXxYyZz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16000" y="9593989"/>
            <a:ext cx="10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413C"/>
                </a:solidFill>
                <a:latin typeface="Georgia"/>
              </a:rPr>
              <a:t>0123456789  !?&amp;@#$.,;:—()[]{}'"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6000" y="10069189"/>
            <a:ext cx="14688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汉字字体分类编排（一）有衬线·无衬线·圆体·手写体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字库参考：方正字库 / 汉仪字库 / 文鼎字库  ·  示例文本选自中国古典诗词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字体分类参考 DIN 16518 标准及中文字体行业分类  ·  版权归各字库厂商所有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99" y="917999"/>
            <a:ext cx="7236000" cy="251999"/>
          </a:xfrm>
          <a:prstGeom prst="rect">
            <a:avLst/>
          </a:prstGeom>
          <a:solidFill>
            <a:srgbClr val="82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99" y="946799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有衬线体 Serif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99" y="1213198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方正书宋  FZ ShuSong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999" y="1393198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Sun"/>
              </a:rPr>
              <a:t>白日依山尽，黄河入海流。欲穷千里目，更上一层楼。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999" y="1897197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999" y="1940397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方正仿宋  FZ FangSong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99" y="2120397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FangSong"/>
              </a:rPr>
              <a:t>海内存知己，天涯若比邻。无为在歧路，儿女共沾巾。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7999" y="2624396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999" y="2667596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汉仪中宋  HY ZhongSong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99" y="2847596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7999" y="3351595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999" y="3394795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文鼎细宋  WT XiSong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999" y="3574795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Sun"/>
              </a:rPr>
              <a:t>春眠不觉晓，处处闻啼鸟。夜来风雨声，花落知多少。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7999" y="4078794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59999" y="917999"/>
            <a:ext cx="7236000" cy="251999"/>
          </a:xfrm>
          <a:prstGeom prst="rect">
            <a:avLst/>
          </a:prstGeom>
          <a:solidFill>
            <a:srgbClr val="23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9999" y="946799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无衬线体 Sans-Serif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3999" y="1213198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方正黑体  FZ HeiTi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3999" y="1393198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Hei"/>
              </a:rPr>
              <a:t>会当凌绝顶，一览众山小。荡胸生层云，决眦入归鸟。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95999" y="1897197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3999" y="1940397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汉仪黑体  HY HeiTi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3999" y="2120397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Hei"/>
              </a:rPr>
              <a:t>举头望明月，低头思故乡。床前明月光，疑是地上霜。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5999" y="2624396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3999" y="2667596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方正兰亭黑  FZ LanTingHei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3999" y="2847596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Microsoft YaHei"/>
              </a:rPr>
              <a:t>烽火连三月，家书抵万金。白头搔更短，浑欲不胜簪。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95999" y="3351595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3999" y="3394795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文鼎中黑  WT ZhongHei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3999" y="3574795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Microsoft YaHei"/>
              </a:rPr>
              <a:t>随风潜入夜，润物细无声。好雨知时节，当春乃发生。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95999" y="4078794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1999" y="4301994"/>
            <a:ext cx="7236000" cy="251999"/>
          </a:xfrm>
          <a:prstGeom prst="rect">
            <a:avLst/>
          </a:prstGeom>
          <a:solidFill>
            <a:srgbClr val="1C6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99" y="4330794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圆体 Rounded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5999" y="4597193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方正准圆  FZ ZhunYuan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5999" y="4777193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Microsoft YaHei"/>
              </a:rPr>
              <a:t>两岸猿声啼不住，轻舟已过万重山。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7999" y="5281192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5999" y="5324392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汉仪圆体  HY YuanTi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5999" y="5504392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Microsoft YaHei"/>
              </a:rPr>
              <a:t>黄河之水天上来，奔流到海不复回。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7999" y="6008391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5999" y="6051591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文鼎圆体  WT YuanTi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5999" y="6231591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Microsoft YaHei"/>
              </a:rPr>
              <a:t>天生我材必有用，千金散尽还复来。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7999" y="6735590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59999" y="4301994"/>
            <a:ext cx="7236000" cy="251999"/>
          </a:xfrm>
          <a:prstGeom prst="rect">
            <a:avLst/>
          </a:prstGeom>
          <a:solidFill>
            <a:srgbClr val="964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49999" y="4330794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手写体 Script / Handwriting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3999" y="4597193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方正行楷  FZ XingKai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999" y="4777193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TXingkai"/>
              </a:rPr>
              <a:t>问君能有几多愁，恰似一江春水向东流。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95999" y="5281192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13999" y="5324392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汉仪行楷  HY XingKai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13999" y="5504392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KaiTi"/>
              </a:rPr>
              <a:t>无边落木萧萧下，不尽长江滚滚来。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95999" y="6008391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13999" y="6051591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文鼎行书  WT XingShu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999" y="6231591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TKaiti"/>
              </a:rPr>
              <a:t>飞流直下三千尺，疑是银河落九天。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95999" y="6735590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汉字字体分类编排（二）古体·过渡体·混合·展示·超类别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字库参考：方正字库 / 汉仪字库 / 文鼎字库  ·  示例文本选自中国古典诗词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字体分类参考 DIN 16518 标准及中文字体行业分类  ·  版权归各字库厂商所有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99" y="917999"/>
            <a:ext cx="7236000" cy="251999"/>
          </a:xfrm>
          <a:prstGeom prst="rect">
            <a:avLst/>
          </a:prstGeom>
          <a:solidFill>
            <a:srgbClr val="5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99" y="946799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古体字 / 过渡体 Transitional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99" y="1213198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方正楷体  FZ KaiTi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999" y="1393198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KaiTi"/>
              </a:rPr>
              <a:t>但愿人长久，千里共婵娟。明月几时有，把酒问青天。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999" y="1897197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999" y="1940397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文鼎隶书  WT LiShu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99" y="2120397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TKaiti"/>
              </a:rPr>
              <a:t>落霞与孤鹜齐飞，秋水共长天一色。渔舟唱晚，响穷彭蠡之滨。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7999" y="2624396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999" y="2667596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汉仪魏碑  HY WeiBei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99" y="2847596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Sun"/>
              </a:rPr>
              <a:t>羌笛何须怨杨柳，春风不度玉门关。黄沙百战穿金甲。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7999" y="3351595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59999" y="917999"/>
            <a:ext cx="7236000" cy="251999"/>
          </a:xfrm>
          <a:prstGeom prst="rect">
            <a:avLst/>
          </a:prstGeom>
          <a:solidFill>
            <a:srgbClr val="3C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9999" y="946799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混合体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3999" y="1213198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方正综艺体  FZ ZongYi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3999" y="1393198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TXingkai"/>
              </a:rPr>
              <a:t>桃花潭水深千尺，不及汪伦送我情。李白乘舟将欲行。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95999" y="1897197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3999" y="1940397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汉仪综艺体  HY ZongYi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3999" y="2120397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TXingkai"/>
              </a:rPr>
              <a:t>横看成岭侧成峰，远近高低各不同。不识庐山真面目。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95999" y="2624396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1999" y="3574795"/>
            <a:ext cx="7236000" cy="251999"/>
          </a:xfrm>
          <a:prstGeom prst="rect">
            <a:avLst/>
          </a:prstGeom>
          <a:solidFill>
            <a:srgbClr val="A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999" y="3603595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展示体 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999" y="3869994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方正粗圆  FZ CuYuan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999" y="4049994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Hei"/>
              </a:rPr>
              <a:t>长风破浪会有时，直挂云帆济沧海。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7999" y="4553993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5999" y="4597193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汉仪展宋  HY ZhanSong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999" y="4777193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Sun"/>
              </a:rPr>
              <a:t>仰天大笑出门去，我辈岂是蓬蒿人。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7999" y="5281192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999" y="5324392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文鼎特明体  WT TeMingTi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5999" y="5504392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Sun"/>
              </a:rPr>
              <a:t>安得广厦千万间，大庇天下寒士俱欢颜。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7999" y="6008391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59999" y="2847596"/>
            <a:ext cx="7236000" cy="25199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49999" y="2876396"/>
            <a:ext cx="7128000" cy="2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imHei"/>
              </a:rPr>
              <a:t>超类别体 Super-Family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999" y="3142795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方正超粗黑  FZ ChaoHei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3999" y="3322795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Hei"/>
              </a:rPr>
              <a:t>黄沙百战穿金甲，不破楼兰终不还。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95999" y="3826794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3999" y="3869994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汉仪超黑  HY ChaoHei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999" y="4049994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SimHei"/>
              </a:rPr>
              <a:t>羌笛何须怨杨柳，春风不度玉门关。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95999" y="4553993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13999" y="4597193"/>
            <a:ext cx="716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0412D"/>
                </a:solidFill>
                <a:latin typeface="SimSun"/>
              </a:rPr>
              <a:t>文鼎超圆  WT ChaoYuan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3999" y="4777193"/>
            <a:ext cx="71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91919"/>
                </a:solidFill>
                <a:latin typeface="Microsoft YaHei"/>
              </a:rPr>
              <a:t>秦时明月汉时关，万里长征人未还。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95999" y="5281192"/>
            <a:ext cx="7164000" cy="108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汉字字号规范表  ·  宋体 · 黑体 · 圆体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号数系统（中文传统印刷规格）对照 PostScript pt 磅值  ·  从初号 42pt 到八号 5pt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字号规范 / Type Size Reference  ·  号数制为中国传统活字印刷规格  ·  pt 为 PostScript 磅值（1pt ≈ 0.353mm）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936000"/>
            <a:ext cx="900000" cy="251999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000" y="964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号数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0000" y="936000"/>
            <a:ext cx="1007999" cy="251999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6000" y="964800"/>
            <a:ext cx="97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pt 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000" y="936000"/>
            <a:ext cx="4680000" cy="251999"/>
          </a:xfrm>
          <a:prstGeom prst="rect">
            <a:avLst/>
          </a:prstGeom>
          <a:solidFill>
            <a:srgbClr val="823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2000" y="964800"/>
            <a:ext cx="46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imHei"/>
              </a:rPr>
              <a:t>宋体 SimSun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0000" y="936000"/>
            <a:ext cx="4680000" cy="251999"/>
          </a:xfrm>
          <a:prstGeom prst="rect">
            <a:avLst/>
          </a:prstGeom>
          <a:solidFill>
            <a:srgbClr val="193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000" y="964800"/>
            <a:ext cx="46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imHei"/>
              </a:rPr>
              <a:t>黑体 SimHei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420000" y="936000"/>
            <a:ext cx="4680000" cy="251999"/>
          </a:xfrm>
          <a:prstGeom prst="rect">
            <a:avLst/>
          </a:prstGeom>
          <a:solidFill>
            <a:srgbClr val="146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92000" y="964800"/>
            <a:ext cx="46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imHei"/>
              </a:rPr>
              <a:t>圆体 YaHei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1206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000" y="129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初号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6000" y="1296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42pt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2000" y="122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000" y="122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92000" y="122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1749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000" y="1764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000" y="185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6000" y="1854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36pt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12000" y="178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000" y="178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92000" y="178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00" y="2307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00" y="2322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000" y="2412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一号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6000" y="2412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26pt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2000" y="234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000" y="234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92000" y="234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" y="2865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0" y="2880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000" y="2970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6000" y="2970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24pt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2000" y="289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000" y="289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92000" y="289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00" y="3423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8000" y="3438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000" y="3528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二号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6000" y="3528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22pt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12000" y="345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000" y="345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492000" y="345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000" y="3981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" y="3996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000" y="408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6000" y="4086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18pt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12000" y="401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000" y="401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92000" y="401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8000" y="4539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8000" y="4554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4000" y="464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三号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6000" y="4644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16pt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12000" y="457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52000" y="457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492000" y="457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00" y="5097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8000" y="5112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000" y="5202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96000" y="5202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15pt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12000" y="513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2000" y="513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492000" y="513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8000" y="5655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8000" y="5670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4000" y="5760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四号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96000" y="5760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14pt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12000" y="568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000" y="568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492000" y="568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8000" y="6213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88000" y="6228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4000" y="6318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小四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96000" y="6318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12pt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12000" y="624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2000" y="624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92000" y="624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8000" y="6771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" y="6786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4000" y="687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五号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96000" y="6876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10.5pt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12000" y="680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52000" y="680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492000" y="680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8000" y="7329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88000" y="7344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4000" y="743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96000" y="7434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9pt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12000" y="736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52000" y="736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492000" y="7362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00" y="7887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88000" y="7902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4000" y="7992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六号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96000" y="7992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7.5pt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12000" y="792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52000" y="792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492000" y="7920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8000" y="8445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88000" y="8460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4000" y="8550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小六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96000" y="8550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6.5pt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12000" y="847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52000" y="847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492000" y="8478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8000" y="9003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8000" y="9018000"/>
            <a:ext cx="14544000" cy="5436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4000" y="9108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七号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96000" y="9108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5.5pt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12000" y="903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52000" y="903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492000" y="9036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88000" y="9561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88000" y="9576000"/>
            <a:ext cx="14544000" cy="5436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4000" y="966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03C1E"/>
                </a:solidFill>
                <a:latin typeface="SimHei"/>
              </a:rPr>
              <a:t>八号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96000" y="9666000"/>
            <a:ext cx="9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64646"/>
                </a:solidFill>
                <a:latin typeface="Arial"/>
              </a:rPr>
              <a:t>5pt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12000" y="959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5A3719"/>
                </a:solidFill>
                <a:latin typeface="SimSun"/>
              </a:rPr>
              <a:t>永字八法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52000" y="959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9326E"/>
                </a:solidFill>
                <a:latin typeface="SimHei"/>
              </a:rPr>
              <a:t>永字八法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492000" y="9594000"/>
            <a:ext cx="45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96446"/>
                </a:solidFill>
                <a:latin typeface="Microsoft YaHei"/>
              </a:rPr>
              <a:t>永字八法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8000" y="10119600"/>
            <a:ext cx="14544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常用拉丁字体字号对照表（6款）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Times New Roman · Garamond · Bodoni · Helvetica · Futura · Gill Sans  ·  6pt → 48pt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拉丁字体字号对照 / Latin Type Size Chart  ·  示例文本：Aa Bb 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936000"/>
            <a:ext cx="1007999" cy="251999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000" y="964800"/>
            <a:ext cx="9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pt 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8000" y="936000"/>
            <a:ext cx="2256000" cy="251999"/>
          </a:xfrm>
          <a:prstGeom prst="rect">
            <a:avLst/>
          </a:prstGeom>
          <a:solidFill>
            <a:srgbClr val="823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4000" y="964800"/>
            <a:ext cx="21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Times New Roman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0000" y="936000"/>
            <a:ext cx="2256000" cy="251999"/>
          </a:xfrm>
          <a:prstGeom prst="rect">
            <a:avLst/>
          </a:prstGeom>
          <a:solidFill>
            <a:srgbClr val="6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6000" y="964800"/>
            <a:ext cx="21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Garamond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000" y="936000"/>
            <a:ext cx="2256000" cy="251999"/>
          </a:xfrm>
          <a:prstGeom prst="rect">
            <a:avLst/>
          </a:prstGeom>
          <a:solidFill>
            <a:srgbClr val="5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8000" y="964800"/>
            <a:ext cx="21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Bodoni MT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4000" y="936000"/>
            <a:ext cx="2256000" cy="251999"/>
          </a:xfrm>
          <a:prstGeom prst="rect">
            <a:avLst/>
          </a:prstGeom>
          <a:solidFill>
            <a:srgbClr val="1E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0" y="964800"/>
            <a:ext cx="21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Helvetica/Arial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6000" y="936000"/>
            <a:ext cx="2256000" cy="251999"/>
          </a:xfrm>
          <a:prstGeom prst="rect">
            <a:avLst/>
          </a:prstGeom>
          <a:solidFill>
            <a:srgbClr val="19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72000" y="964800"/>
            <a:ext cx="21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Futura/Century Gothic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28000" y="936000"/>
            <a:ext cx="2256000" cy="251999"/>
          </a:xfrm>
          <a:prstGeom prst="rect">
            <a:avLst/>
          </a:prstGeom>
          <a:solidFill>
            <a:srgbClr val="146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64000" y="964800"/>
            <a:ext cx="21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Gill Sans MT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12060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000" y="12960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6pt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000" y="1224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6000" y="1224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8000" y="1224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1224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2000" y="1224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64000" y="1224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17424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00" y="17568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000" y="18468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7pt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" y="1774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6000" y="1774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8000" y="1774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000" y="1774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2000" y="1774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64000" y="1774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00" y="22932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00" y="23076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000" y="23976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8pt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04000" y="2325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6000" y="2325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8000" y="2325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0000" y="2325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2000" y="2325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64000" y="2325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00" y="28440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000" y="28584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000" y="29484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9pt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4000" y="2876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6000" y="2876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8000" y="2876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0000" y="2876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72000" y="2876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64000" y="2876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00" y="33948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8000" y="34092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4000" y="34992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10pt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04000" y="3427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96000" y="3427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8000" y="3427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80000" y="3427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72000" y="3427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64000" y="3427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00" y="39456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8000" y="39600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000" y="40500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11pt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04000" y="3978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96000" y="3978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88000" y="3978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0000" y="3978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2000" y="3978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864000" y="3978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8000" y="44964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88000" y="45108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4000" y="46008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12pt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04000" y="4528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96000" y="4528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88000" y="4528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80000" y="4528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72000" y="4528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64000" y="4528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8000" y="50472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88000" y="50616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4000" y="51516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14pt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04000" y="5079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96000" y="5079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8000" y="5079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0000" y="5079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2000" y="5079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864000" y="5079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8000" y="55980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88000" y="56124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4000" y="57024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16pt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04000" y="5630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96000" y="5630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88000" y="5630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80000" y="5630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72000" y="5630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864000" y="5630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8000" y="61488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88000" y="61632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4000" y="62532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18pt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04000" y="6181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96000" y="6181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88000" y="6181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80000" y="6181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72000" y="6181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864000" y="6181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8000" y="66996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88000" y="67140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4000" y="68040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20pt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04000" y="6732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96000" y="6732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88000" y="6732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80000" y="6732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72000" y="6732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864000" y="6732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88000" y="72504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88000" y="72648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4000" y="73548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24pt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04000" y="7282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96000" y="7282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988000" y="7282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80000" y="7282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572000" y="7282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864000" y="7282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8000" y="78012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88000" y="78156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24000" y="79056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28pt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04000" y="7833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96000" y="7833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88000" y="7833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80000" y="7833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572000" y="7833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864000" y="78336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88000" y="83520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88000" y="83664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24000" y="84564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32pt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04000" y="8384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96000" y="8384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988000" y="8384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80000" y="8384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72000" y="8384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864000" y="83844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88000" y="89028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88000" y="89172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24000" y="90072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36pt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404000" y="8935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96000" y="8935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88000" y="8935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0000" y="8935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572000" y="8935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864000" y="89352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88000" y="94536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88000" y="9468000"/>
            <a:ext cx="14796000" cy="536400"/>
          </a:xfrm>
          <a:prstGeom prst="rect">
            <a:avLst/>
          </a:prstGeom>
          <a:solidFill>
            <a:srgbClr val="FE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24000" y="95580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42pt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404000" y="9486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696000" y="9486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988000" y="9486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280000" y="9486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572000" y="9486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864000" y="94860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88000" y="100044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88000" y="10018800"/>
            <a:ext cx="14796000" cy="5364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24000" y="10108800"/>
            <a:ext cx="9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0411E"/>
                </a:solidFill>
                <a:latin typeface="Arial"/>
              </a:rPr>
              <a:t>48pt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404000" y="10036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Times New Roman"/>
              </a:rPr>
              <a:t>Aa Bb Cc 123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696000" y="10036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aramond"/>
              </a:rPr>
              <a:t>Aa Bb Cc 123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988000" y="10036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Bodoni MT"/>
              </a:rPr>
              <a:t>Aa Bb Cc 123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280000" y="10036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Arial"/>
              </a:rPr>
              <a:t>Aa Bb Cc 123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572000" y="10036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Century Gothic"/>
              </a:rPr>
              <a:t>Aa Bb Cc 123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864000" y="10036800"/>
            <a:ext cx="21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919"/>
                </a:solidFill>
                <a:latin typeface="Gill Sans MT"/>
              </a:rPr>
              <a:t>Aa Bb Cc 123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88000" y="10555200"/>
            <a:ext cx="14796000" cy="14400"/>
          </a:xfrm>
          <a:prstGeom prst="rect">
            <a:avLst/>
          </a:prstGeom>
          <a:solidFill>
            <a:srgbClr val="CD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宋体行距实验（一）  ·  9pt × 行距 100%–250%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固定字号 9pt  ·  行距从100%到250%  ·  对比段落密度与阅读节奏变化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行距实验 / Line Spacing  ·  宋体 SimSun  ·  参考软件：CDR=CorelDRAW  AI=Illustrator  PS=Photoshop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99" y="936000"/>
            <a:ext cx="4818000" cy="259200"/>
          </a:xfrm>
          <a:prstGeom prst="rect">
            <a:avLst/>
          </a:prstGeom>
          <a:solidFill>
            <a:srgbClr val="50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999" y="96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9pt  行距100%   [ CDR: 行距100% | AI: ×1.0 | PS: 100%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999" y="123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999" y="93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3999" y="936000"/>
            <a:ext cx="4818000" cy="259200"/>
          </a:xfrm>
          <a:prstGeom prst="rect">
            <a:avLst/>
          </a:prstGeom>
          <a:solidFill>
            <a:srgbClr val="28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5999" y="96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9pt  行距125%   [ CDR: 行距125% | AI: ×1.25 | PS: 125%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9999" y="123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3999" y="93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5999" y="936000"/>
            <a:ext cx="4818000" cy="259200"/>
          </a:xfrm>
          <a:prstGeom prst="rect">
            <a:avLst/>
          </a:prstGeom>
          <a:solidFill>
            <a:srgbClr val="32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7999" y="96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9pt  行距150%   [ CDR: 行距150% | AI: ×1.5 | PS: 150%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1999" y="123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95999" y="93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999" y="5526000"/>
            <a:ext cx="4818000" cy="259200"/>
          </a:xfrm>
          <a:prstGeom prst="rect">
            <a:avLst/>
          </a:prstGeom>
          <a:solidFill>
            <a:srgbClr val="50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99" y="555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9pt  行距175%   [ CDR: 行距175% | AI: ×1.75 | PS: 175%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999" y="582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7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7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7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7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75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999" y="552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3999" y="5526000"/>
            <a:ext cx="4818000" cy="259200"/>
          </a:xfrm>
          <a:prstGeom prst="rect">
            <a:avLst/>
          </a:prstGeom>
          <a:solidFill>
            <a:srgbClr val="28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5999" y="555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9pt  行距200%   [ CDR: 行距200% | AI: ×2.0 | PS: 200%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9999" y="582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2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2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2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2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20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3999" y="552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95999" y="5526000"/>
            <a:ext cx="4818000" cy="259200"/>
          </a:xfrm>
          <a:prstGeom prst="rect">
            <a:avLst/>
          </a:prstGeom>
          <a:solidFill>
            <a:srgbClr val="32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7999" y="555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9pt  行距250%   [ CDR: 行距250% | AI: ×2.5 | PS: 250%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1999" y="582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2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2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2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2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250000"/>
              </a:lnSpc>
            </a:pPr>
            <a:r>
              <a:rPr sz="9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5999" y="552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宋体行距实验（二）  ·  10pt / 12pt × 行距 100%–200%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不同字号下行距变化的对比  ·  体现字号与行距的配合关系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行距实验 / Line Spacing  ·  宋体 SimSun  ·  参考软件：CDR=CorelDRAW  AI=Illustrator  PS=Photoshop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99" y="936000"/>
            <a:ext cx="4818000" cy="259200"/>
          </a:xfrm>
          <a:prstGeom prst="rect">
            <a:avLst/>
          </a:prstGeom>
          <a:solidFill>
            <a:srgbClr val="50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999" y="96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10pt 行距100%   [ CDR: 行距100% | AI: ×1.0 | PS: 100%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999" y="123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999" y="93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3999" y="936000"/>
            <a:ext cx="4818000" cy="259200"/>
          </a:xfrm>
          <a:prstGeom prst="rect">
            <a:avLst/>
          </a:prstGeom>
          <a:solidFill>
            <a:srgbClr val="28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5999" y="96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10pt 行距150%   [ CDR: 行距150% | AI: ×1.5 | PS: 150%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9999" y="123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5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3999" y="93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5999" y="936000"/>
            <a:ext cx="4818000" cy="259200"/>
          </a:xfrm>
          <a:prstGeom prst="rect">
            <a:avLst/>
          </a:prstGeom>
          <a:solidFill>
            <a:srgbClr val="32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7999" y="96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10pt 行距200%   [ CDR: 行距200% | AI: ×2.0 | PS: 200%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1999" y="123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2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2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2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2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200000"/>
              </a:lnSpc>
            </a:pPr>
            <a:r>
              <a:rPr sz="10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95999" y="93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999" y="5526000"/>
            <a:ext cx="4818000" cy="259200"/>
          </a:xfrm>
          <a:prstGeom prst="rect">
            <a:avLst/>
          </a:prstGeom>
          <a:solidFill>
            <a:srgbClr val="50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99" y="555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12pt 行距100%   [ CDR: 行距100% | AI: ×1.0 | PS: 100%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999" y="582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999" y="552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3999" y="5526000"/>
            <a:ext cx="4818000" cy="259200"/>
          </a:xfrm>
          <a:prstGeom prst="rect">
            <a:avLst/>
          </a:prstGeom>
          <a:solidFill>
            <a:srgbClr val="285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5999" y="555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12pt 行距150%   [ CDR: 行距150% | AI: ×1.5 | PS: 150%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9999" y="582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3999" y="552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95999" y="5526000"/>
            <a:ext cx="4818000" cy="259200"/>
          </a:xfrm>
          <a:prstGeom prst="rect">
            <a:avLst/>
          </a:prstGeom>
          <a:solidFill>
            <a:srgbClr val="32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7999" y="5558400"/>
            <a:ext cx="4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imHei"/>
              </a:rPr>
              <a:t>12pt 行距200%   [ CDR: 行距200% | AI: ×2.0 | PS: 200%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1999" y="5821200"/>
            <a:ext cx="4764000" cy="41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>
              <a:lnSpc>
                <a:spcPct val="2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春眠不觉晓，处处闻啼鸟。夜来风雨声，花落知多少。</a:t>
            </a:r>
          </a:p>
          <a:p>
            <a:pPr algn="l">
              <a:lnSpc>
                <a:spcPct val="2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>
              <a:lnSpc>
                <a:spcPct val="2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  <a:p>
            <a:pPr algn="l">
              <a:lnSpc>
                <a:spcPct val="2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会当凌绝顶，一览众山小。荡胸生层云，决眦入归鸟。</a:t>
            </a:r>
          </a:p>
          <a:p>
            <a:pPr algn="l">
              <a:lnSpc>
                <a:spcPct val="200000"/>
              </a:lnSpc>
            </a:pPr>
            <a:r>
              <a:rPr sz="1200">
                <a:solidFill>
                  <a:srgbClr val="232323"/>
                </a:solidFill>
                <a:latin typeface="SimSun"/>
              </a:rPr>
              <a:t>大漠孤烟直，长河落日圆。萧关逢候骑，都护在燕然。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5999" y="5526000"/>
            <a:ext cx="4818000" cy="4554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宋体字距实验  ·  紧缩 −50 → 加宽 +500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字距从紧缩到疏松的8级对比  ·  字号固定 9pt  ·  参考软件 CDR / AI / 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字距实验 / Character Spacing  ·  宋体 SimSun 9pt  ·  CDR: 字距微调(μ) | AI: 字距调整(pt) | PS: 字符间距(pt)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99" y="936000"/>
            <a:ext cx="7254000" cy="259200"/>
          </a:xfrm>
          <a:prstGeom prst="rect">
            <a:avLst/>
          </a:prstGeom>
          <a:solidFill>
            <a:srgbClr val="32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999" y="968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−50   紧缩 Tight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99" y="1231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-5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-5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-5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999" y="936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59999" y="936000"/>
            <a:ext cx="7254000" cy="259200"/>
          </a:xfrm>
          <a:prstGeom prst="rect">
            <a:avLst/>
          </a:prstGeom>
          <a:solidFill>
            <a:srgbClr val="46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1999" y="968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   0   标准 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3999" y="1231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9999" y="936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999" y="3231000"/>
            <a:ext cx="7254000" cy="259200"/>
          </a:xfrm>
          <a:prstGeom prst="rect">
            <a:avLst/>
          </a:prstGeom>
          <a:solidFill>
            <a:srgbClr val="32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999" y="3263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+50   加宽 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999" y="3526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5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5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5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999" y="3231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9999" y="3231000"/>
            <a:ext cx="7254000" cy="259200"/>
          </a:xfrm>
          <a:prstGeom prst="rect">
            <a:avLst/>
          </a:prstGeom>
          <a:solidFill>
            <a:srgbClr val="46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1999" y="3263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+100  加宽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3999" y="3526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10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10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10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9999" y="3231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999" y="5526000"/>
            <a:ext cx="7254000" cy="259200"/>
          </a:xfrm>
          <a:prstGeom prst="rect">
            <a:avLst/>
          </a:prstGeom>
          <a:solidFill>
            <a:srgbClr val="32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999" y="5558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+150  加宽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999" y="5821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15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15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15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5526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59999" y="5526000"/>
            <a:ext cx="7254000" cy="259200"/>
          </a:xfrm>
          <a:prstGeom prst="rect">
            <a:avLst/>
          </a:prstGeom>
          <a:solidFill>
            <a:srgbClr val="46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1999" y="5558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+200  加宽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3999" y="5821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20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20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20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59999" y="5526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1999" y="7821000"/>
            <a:ext cx="7254000" cy="259200"/>
          </a:xfrm>
          <a:prstGeom prst="rect">
            <a:avLst/>
          </a:prstGeom>
          <a:solidFill>
            <a:srgbClr val="32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999" y="7853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+300  疏松 Loose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5999" y="8116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30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30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30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999" y="7821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59999" y="7821000"/>
            <a:ext cx="7254000" cy="259200"/>
          </a:xfrm>
          <a:prstGeom prst="rect">
            <a:avLst/>
          </a:prstGeom>
          <a:solidFill>
            <a:srgbClr val="46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1999" y="7853400"/>
            <a:ext cx="71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imHei"/>
              </a:rPr>
              <a:t>字距 +500  极疏 XL-Loose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999" y="8116200"/>
            <a:ext cx="7182001" cy="18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spc="50000">
                <a:solidFill>
                  <a:srgbClr val="232323"/>
                </a:solidFill>
                <a:latin typeface="SimSun"/>
              </a:rPr>
              <a:t>床前明月光，疑是地上霜。举头望明月，低头思故乡。</a:t>
            </a:r>
          </a:p>
          <a:p>
            <a:pPr algn="l"/>
            <a:r>
              <a:rPr sz="900" spc="50000">
                <a:solidFill>
                  <a:srgbClr val="232323"/>
                </a:solidFill>
                <a:latin typeface="SimSun"/>
              </a:rPr>
              <a:t>欲穷千里目，更上一层楼。白日依山尽，黄河入海流。</a:t>
            </a:r>
          </a:p>
          <a:p>
            <a:pPr algn="l"/>
            <a:r>
              <a:rPr sz="900" spc="50000">
                <a:solidFill>
                  <a:srgbClr val="232323"/>
                </a:solidFill>
                <a:latin typeface="SimSun"/>
              </a:rPr>
              <a:t>海内存知己，天涯若比邻。无为在歧路，儿女共沾巾。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59999" y="7821000"/>
            <a:ext cx="7254000" cy="2259000"/>
          </a:xfrm>
          <a:prstGeom prst="rect">
            <a:avLst/>
          </a:prstGeom>
          <a:noFill/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5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5120000" cy="21600"/>
          </a:xfrm>
          <a:prstGeom prst="rect">
            <a:avLst/>
          </a:prstGeom>
          <a:solidFill>
            <a:srgbClr val="EB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BC86E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108000"/>
            <a:ext cx="12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0E1"/>
                </a:solidFill>
                <a:latin typeface="SimHei"/>
              </a:rPr>
              <a:t>宋体综合实验  ·  行距 × 字距 矩阵对照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450000"/>
            <a:ext cx="12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9B91"/>
                </a:solidFill>
                <a:latin typeface="SimHei"/>
              </a:rPr>
              <a:t>3×3 矩阵  ·  行距 100% / 150% / 200%  ×  字距 0 / +100 / +300  ·  CDR · AI · PS 参数对照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368000"/>
            <a:ext cx="15120000" cy="32400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411200"/>
            <a:ext cx="14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E6962"/>
                </a:solidFill>
                <a:latin typeface="SimSun"/>
              </a:rPr>
              <a:t>综合实验 / Combined Matrix  ·  宋体 SimSun 9pt  ·  CDR=CorelDRAW | AI=Illustrator | PS=Photoshop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1999" y="936000"/>
            <a:ext cx="4596000" cy="288000"/>
          </a:xfrm>
          <a:prstGeom prst="rect">
            <a:avLst/>
          </a:prstGeom>
          <a:solidFill>
            <a:srgbClr val="325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3999" y="943200"/>
            <a:ext cx="448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imHei"/>
              </a:rPr>
              <a:t>字距0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3999" y="936000"/>
            <a:ext cx="4596000" cy="288000"/>
          </a:xfrm>
          <a:prstGeom prst="rect">
            <a:avLst/>
          </a:prstGeom>
          <a:solidFill>
            <a:srgbClr val="3C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5999" y="943200"/>
            <a:ext cx="448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imHei"/>
              </a:rPr>
              <a:t>字距+100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35999" y="936000"/>
            <a:ext cx="4596000" cy="288000"/>
          </a:xfrm>
          <a:prstGeom prst="rect">
            <a:avLst/>
          </a:prstGeom>
          <a:solidFill>
            <a:srgbClr val="6E3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7999" y="943200"/>
            <a:ext cx="448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imHei"/>
              </a:rPr>
              <a:t>字距+300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999" y="1224000"/>
            <a:ext cx="684000" cy="2928000"/>
          </a:xfrm>
          <a:prstGeom prst="rect">
            <a:avLst/>
          </a:prstGeom>
          <a:solidFill>
            <a:srgbClr val="5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000" y="1404000"/>
            <a:ext cx="6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行距
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1999" y="1224000"/>
            <a:ext cx="4596000" cy="2928000"/>
          </a:xfrm>
          <a:prstGeom prst="rect">
            <a:avLst/>
          </a:prstGeom>
          <a:solidFill>
            <a:srgbClr val="F8F6F0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999" y="1267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行距100%  字距0μ
AI:  ×1.0行间距  字距0pt
PS:  100%  间距0pt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999" y="1637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10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10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3999" y="1224000"/>
            <a:ext cx="4596000" cy="2928000"/>
          </a:xfrm>
          <a:prstGeom prst="rect">
            <a:avLst/>
          </a:prstGeom>
          <a:solidFill>
            <a:srgbClr val="EEECE6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7999" y="1267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行距100%  字距100μ
AI:  ×1.0行间距  字距100pt
PS:  100%  间距100pt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7999" y="1637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10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10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35999" y="1224000"/>
            <a:ext cx="4596000" cy="2928000"/>
          </a:xfrm>
          <a:prstGeom prst="rect">
            <a:avLst/>
          </a:prstGeom>
          <a:solidFill>
            <a:srgbClr val="F8F6F0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9999" y="1267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行距100%  字距300μ
AI:  ×1.0行间距  字距300pt
PS:  100%  间距300pt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9999" y="1637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10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10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4188000"/>
            <a:ext cx="684000" cy="2928000"/>
          </a:xfrm>
          <a:prstGeom prst="rect">
            <a:avLst/>
          </a:prstGeom>
          <a:solidFill>
            <a:srgbClr val="32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4368000"/>
            <a:ext cx="6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行距
150%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999" y="4188000"/>
            <a:ext cx="4596000" cy="2928000"/>
          </a:xfrm>
          <a:prstGeom prst="rect">
            <a:avLst/>
          </a:prstGeom>
          <a:solidFill>
            <a:srgbClr val="EEECE6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999" y="4231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行距150%  字距0μ
AI:  ×1.5行间距  字距0pt
PS:  150%  间距0pt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99" y="4601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15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15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03999" y="4188000"/>
            <a:ext cx="4596000" cy="2928000"/>
          </a:xfrm>
          <a:prstGeom prst="rect">
            <a:avLst/>
          </a:prstGeom>
          <a:solidFill>
            <a:srgbClr val="F8F6F0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7999" y="4231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行距150%  字距100μ
AI:  ×1.5行间距  字距100pt
PS:  150%  间距100pt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7999" y="4601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15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15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35999" y="4188000"/>
            <a:ext cx="4596000" cy="2928000"/>
          </a:xfrm>
          <a:prstGeom prst="rect">
            <a:avLst/>
          </a:prstGeom>
          <a:solidFill>
            <a:srgbClr val="EEECE6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9999" y="4231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行距150%  字距300μ
AI:  ×1.5行间距  字距300pt
PS:  150%  间距300pt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9999" y="4601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15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15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999" y="7152000"/>
            <a:ext cx="684000" cy="2928000"/>
          </a:xfrm>
          <a:prstGeom prst="rect">
            <a:avLst/>
          </a:prstGeom>
          <a:solidFill>
            <a:srgbClr val="73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" y="7332000"/>
            <a:ext cx="6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行距
200%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1999" y="7152000"/>
            <a:ext cx="4596000" cy="2928000"/>
          </a:xfrm>
          <a:prstGeom prst="rect">
            <a:avLst/>
          </a:prstGeom>
          <a:solidFill>
            <a:srgbClr val="F8F6F0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999" y="7195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行距200%  字距0μ
AI:  ×2.0行间距  字距0pt
PS:  200%  间距0pt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999" y="7565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20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200000"/>
              </a:lnSpc>
            </a:pPr>
            <a:r>
              <a:rPr sz="900" spc="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03999" y="7152000"/>
            <a:ext cx="4596000" cy="2928000"/>
          </a:xfrm>
          <a:prstGeom prst="rect">
            <a:avLst/>
          </a:prstGeom>
          <a:solidFill>
            <a:srgbClr val="EEECE6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7999" y="7195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行距200%  字距100μ
AI:  ×2.0行间距  字距100pt
PS:  200%  间距100pt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7999" y="7565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20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200000"/>
              </a:lnSpc>
            </a:pPr>
            <a:r>
              <a:rPr sz="900" spc="1000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35999" y="7152000"/>
            <a:ext cx="4596000" cy="2928000"/>
          </a:xfrm>
          <a:prstGeom prst="rect">
            <a:avLst/>
          </a:prstGeom>
          <a:solidFill>
            <a:srgbClr val="F8F6F0"/>
          </a:solidFill>
          <a:ln w="6350"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89999" y="7195200"/>
            <a:ext cx="45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5F4B"/>
                </a:solidFill>
                <a:latin typeface="Arial"/>
              </a:rPr>
              <a:t>CDR: 行距200%  字距300μ
AI:  ×2.0行间距  字距300pt
PS:  200%  间距300pt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9999" y="7565999"/>
            <a:ext cx="4506001" cy="246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床前明月光，疑是地上霜。</a:t>
            </a:r>
          </a:p>
          <a:p>
            <a:pPr algn="l">
              <a:lnSpc>
                <a:spcPct val="20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举头望明月，低头思故乡。</a:t>
            </a:r>
          </a:p>
          <a:p>
            <a:pPr algn="l">
              <a:lnSpc>
                <a:spcPct val="200000"/>
              </a:lnSpc>
            </a:pPr>
            <a:r>
              <a:rPr sz="900" spc="30000">
                <a:solidFill>
                  <a:srgbClr val="232323"/>
                </a:solidFill>
                <a:latin typeface="SimSun"/>
              </a:rPr>
              <a:t>欲穷千里目，更上一层楼。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