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F0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914400"/>
            <a:ext cx="5852160" cy="5852160"/>
          </a:xfrm>
          <a:prstGeom prst="ellipse">
            <a:avLst/>
          </a:prstGeom>
          <a:noFill/>
          <a:ln w="12700">
            <a:solidFill>
              <a:srgbClr val="C46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1554480"/>
            <a:ext cx="4572000" cy="4572000"/>
          </a:xfrm>
          <a:prstGeom prst="ellipse">
            <a:avLst/>
          </a:prstGeom>
          <a:noFill/>
          <a:ln w="12700">
            <a:solidFill>
              <a:srgbClr val="C46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2194560"/>
            <a:ext cx="3291840" cy="3291840"/>
          </a:xfrm>
          <a:prstGeom prst="ellipse">
            <a:avLst/>
          </a:prstGeom>
          <a:noFill/>
          <a:ln w="12700">
            <a:solidFill>
              <a:srgbClr val="C46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18320" y="2743200"/>
            <a:ext cx="2194560" cy="2194560"/>
          </a:xfrm>
          <a:prstGeom prst="ellipse">
            <a:avLst/>
          </a:prstGeom>
          <a:noFill/>
          <a:ln w="12700">
            <a:solidFill>
              <a:srgbClr val="C46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66960" y="3291840"/>
            <a:ext cx="1097280" cy="1097280"/>
          </a:xfrm>
          <a:prstGeom prst="ellipse">
            <a:avLst/>
          </a:prstGeom>
          <a:noFill/>
          <a:ln w="12700">
            <a:solidFill>
              <a:srgbClr val="C46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92640" y="2286000"/>
            <a:ext cx="822960" cy="2560320"/>
          </a:xfrm>
          <a:prstGeom prst="rect">
            <a:avLst/>
          </a:prstGeom>
          <a:solidFill>
            <a:srgbClr val="C46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612A"/>
                </a:solidFill>
                <a:latin typeface="PingFang SC"/>
              </a:rPr>
              <a:t>WAYFINDING SYSTEM SURVEY · XI'AN ·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1E1A17"/>
                </a:solidFill>
                <a:latin typeface="PingFang SC"/>
              </a:rPr>
              <a:t>西安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1E1A17"/>
                </a:solidFill>
                <a:latin typeface="PingFang SC"/>
              </a:rPr>
              <a:t>公共文化机构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C4612A"/>
                </a:solidFill>
                <a:latin typeface="PingFang SC"/>
              </a:rPr>
              <a:t>导视系统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857E"/>
                </a:solidFill>
                <a:latin typeface="PingFang SC"/>
              </a:rPr>
              <a:t>实地考察与调研报告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72000"/>
            <a:ext cx="365760" cy="25400"/>
          </a:xfrm>
          <a:prstGeom prst="rect">
            <a:avLst/>
          </a:prstGeom>
          <a:solidFill>
            <a:srgbClr val="C46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800600"/>
            <a:ext cx="1005840" cy="274320"/>
          </a:xfrm>
          <a:prstGeom prst="rect">
            <a:avLst/>
          </a:prstGeom>
          <a:noFill/>
          <a:ln w="10160">
            <a:solidFill>
              <a:srgbClr val="D8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8A857E"/>
                </a:solidFill>
                <a:latin typeface="PingFang SC"/>
              </a:rPr>
              <a:t>博物馆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4800600"/>
            <a:ext cx="1005840" cy="274320"/>
          </a:xfrm>
          <a:prstGeom prst="rect">
            <a:avLst/>
          </a:prstGeom>
          <a:noFill/>
          <a:ln w="10160">
            <a:solidFill>
              <a:srgbClr val="D8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8A857E"/>
                </a:solidFill>
                <a:latin typeface="PingFang SC"/>
              </a:rPr>
              <a:t>文化馆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4800600"/>
            <a:ext cx="1005840" cy="274320"/>
          </a:xfrm>
          <a:prstGeom prst="rect">
            <a:avLst/>
          </a:prstGeom>
          <a:noFill/>
          <a:ln w="10160">
            <a:solidFill>
              <a:srgbClr val="D8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8A857E"/>
                </a:solidFill>
                <a:latin typeface="PingFang SC"/>
              </a:rPr>
              <a:t>图书馆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3CC"/>
                </a:solidFill>
                <a:latin typeface="PingFang SC"/>
              </a:rPr>
              <a:t>陶瓷体验博物馆导视创新研究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-1097280"/>
            <a:ext cx="73152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0" b="1" i="0">
                <a:solidFill>
                  <a:srgbClr val="F0EDE8"/>
                </a:solidFill>
                <a:latin typeface="PingFang SC"/>
              </a:rPr>
              <a:t>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612A"/>
                </a:solidFill>
                <a:latin typeface="PingFang SC"/>
              </a:rPr>
              <a:t>WAYFINDING · KEYWORDS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1E1A17"/>
                </a:solidFill>
                <a:latin typeface="PingFang SC"/>
              </a:rPr>
              <a:t>导视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0058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4612A"/>
                </a:solidFill>
                <a:latin typeface="PingFang SC"/>
              </a:rPr>
              <a:t>关键词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8D3CC"/>
                </a:solidFill>
                <a:latin typeface="PingFang SC"/>
              </a:rPr>
              <a:t>核心概念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0574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E1A17"/>
                </a:solidFill>
                <a:latin typeface="PingFang SC"/>
              </a:rPr>
              <a:t>引导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61132" y="20574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4612A"/>
                </a:solidFill>
                <a:latin typeface="PingFang SC"/>
              </a:rPr>
              <a:t>叙事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9184" y="20574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E1A17"/>
                </a:solidFill>
                <a:latin typeface="PingFang SC"/>
              </a:rPr>
              <a:t>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7236" y="20574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6B9E8E"/>
                </a:solidFill>
                <a:latin typeface="PingFang SC"/>
              </a:rPr>
              <a:t>体验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8D3CC"/>
                </a:solidFill>
                <a:latin typeface="PingFang SC"/>
              </a:rPr>
              <a:t>设计原则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0175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4612A"/>
                </a:solidFill>
                <a:latin typeface="PingFang SC"/>
              </a:rPr>
              <a:t>系统性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7782" y="30175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4612A"/>
                </a:solidFill>
                <a:latin typeface="PingFang SC"/>
              </a:rPr>
              <a:t>一致性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72484" y="30175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4612A"/>
                </a:solidFill>
                <a:latin typeface="PingFang SC"/>
              </a:rPr>
              <a:t>在地性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7186" y="30175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4612A"/>
                </a:solidFill>
                <a:latin typeface="PingFang SC"/>
              </a:rPr>
              <a:t>可读性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30175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4612A"/>
                </a:solidFill>
                <a:latin typeface="PingFang SC"/>
              </a:rPr>
              <a:t>无障碍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8D3CC"/>
                </a:solidFill>
                <a:latin typeface="PingFang SC"/>
              </a:rPr>
              <a:t>功能维度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794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857E"/>
                </a:solidFill>
                <a:latin typeface="PingFang SC"/>
              </a:rPr>
              <a:t>空间定向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7772" y="3794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857E"/>
                </a:solidFill>
                <a:latin typeface="PingFang SC"/>
              </a:rPr>
              <a:t>文化表达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2464" y="3794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857E"/>
                </a:solidFill>
                <a:latin typeface="PingFang SC"/>
              </a:rPr>
              <a:t>信息层级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7156" y="3794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857E"/>
                </a:solidFill>
                <a:latin typeface="PingFang SC"/>
              </a:rPr>
              <a:t>情绪引导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1848" y="3794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857E"/>
                </a:solidFill>
                <a:latin typeface="PingFang SC"/>
              </a:rPr>
              <a:t>品牌塑造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805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8D3CC"/>
                </a:solidFill>
                <a:latin typeface="PingFang SC"/>
              </a:rPr>
              <a:t>物质语言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434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3CC"/>
                </a:solidFill>
                <a:latin typeface="PingFang SC"/>
              </a:rPr>
              <a:t>材质语言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4412" y="4434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3CC"/>
                </a:solidFill>
                <a:latin typeface="PingFang SC"/>
              </a:rPr>
              <a:t>色彩编码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85744" y="4434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3CC"/>
                </a:solidFill>
                <a:latin typeface="PingFang SC"/>
              </a:rPr>
              <a:t>形式语言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37076" y="4434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3CC"/>
                </a:solidFill>
                <a:latin typeface="PingFang SC"/>
              </a:rPr>
              <a:t>比例关系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8408" y="4434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3CC"/>
                </a:solidFill>
                <a:latin typeface="PingFang SC"/>
              </a:rPr>
              <a:t>字体系统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9740" y="4434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3CC"/>
                </a:solidFill>
                <a:latin typeface="PingFang SC"/>
              </a:rPr>
              <a:t>图形符号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2971800"/>
            <a:ext cx="10515600" cy="12700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0" cy="6858000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548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06060"/>
                </a:solidFill>
                <a:latin typeface="PingFang SC"/>
              </a:rPr>
              <a:t>MUSEUM
WAYFINDING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1005840"/>
            <a:ext cx="1783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PingFang SC"/>
              </a:rPr>
              <a:t>中国
博物馆
导视内容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32004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  <a:latin typeface="PingFang SC"/>
              </a:rPr>
              <a:t>导视内容包括：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36118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</a:rPr>
              <a:t>导览总图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" y="391363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</a:rPr>
              <a:t>楼层索引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421538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</a:rPr>
              <a:t>展厅标牌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451713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</a:rPr>
              <a:t>方向箭头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481888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</a:rPr>
              <a:t>展品说明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51206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</a:rPr>
              <a:t>服务设施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" y="54223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</a:rPr>
              <a:t>禁止标识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572414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</a:rPr>
              <a:t>安全出口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164592"/>
            <a:ext cx="97840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94560" y="164592"/>
            <a:ext cx="73152" cy="1417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3017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1A17"/>
                </a:solidFill>
                <a:latin typeface="PingFang SC"/>
              </a:rPr>
              <a:t>故宫博物院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667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857E"/>
                </a:solidFill>
                <a:latin typeface="PingFang SC"/>
              </a:rPr>
              <a:t>Beijing · Imperial Palace</a:t>
            </a:r>
          </a:p>
        </p:txBody>
      </p:sp>
      <p:sp>
        <p:nvSpPr>
          <p:cNvPr id="18" name="Oval 17"/>
          <p:cNvSpPr/>
          <p:nvPr/>
        </p:nvSpPr>
        <p:spPr>
          <a:xfrm>
            <a:off x="2377440" y="1033272"/>
            <a:ext cx="201168" cy="201168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633472" y="1033272"/>
            <a:ext cx="201168" cy="201168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89504" y="1033272"/>
            <a:ext cx="201168" cy="201168"/>
          </a:xfrm>
          <a:prstGeom prst="ellipse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145536" y="1033272"/>
            <a:ext cx="201168" cy="201168"/>
          </a:xfrm>
          <a:prstGeom prst="ellipse">
            <a:avLst/>
          </a:prstGeom>
          <a:solidFill>
            <a:srgbClr val="F0E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01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612A"/>
                </a:solidFill>
                <a:latin typeface="PingFang SC"/>
              </a:rPr>
              <a:t>云纹卷草 · 宫廷红金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621792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857E"/>
                </a:solidFill>
                <a:latin typeface="PingFang SC"/>
              </a:rPr>
              <a:t>朱红、金色为主色系，融入卷云纹、回纹等传统纹样；
字体选用宋体+隶书，铜质鎏金材质，彰显皇家礼制氛围。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1673352"/>
            <a:ext cx="97840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94560" y="1673352"/>
            <a:ext cx="73152" cy="1417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0" y="18105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1A17"/>
                </a:solidFill>
                <a:latin typeface="PingFang SC"/>
              </a:rPr>
              <a:t>苏州博物馆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2176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857E"/>
                </a:solidFill>
                <a:latin typeface="PingFang SC"/>
              </a:rPr>
              <a:t>Suzhou · I.M.Pei Design</a:t>
            </a:r>
          </a:p>
        </p:txBody>
      </p:sp>
      <p:sp>
        <p:nvSpPr>
          <p:cNvPr id="28" name="Oval 27"/>
          <p:cNvSpPr/>
          <p:nvPr/>
        </p:nvSpPr>
        <p:spPr>
          <a:xfrm>
            <a:off x="2377440" y="2542032"/>
            <a:ext cx="201168" cy="201168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633472" y="2542032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889504" y="2542032"/>
            <a:ext cx="201168" cy="201168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145536" y="2542032"/>
            <a:ext cx="201168" cy="201168"/>
          </a:xfrm>
          <a:prstGeom prst="ellipse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1810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612A"/>
                </a:solidFill>
                <a:latin typeface="PingFang SC"/>
              </a:rPr>
              <a:t>几何抽象 · 黑白灰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2130552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857E"/>
                </a:solidFill>
                <a:latin typeface="PingFang SC"/>
              </a:rPr>
              <a:t>贝聿铭设计语言延伸，菱形几何为核心图形；
极简黑白色系呼应粉墙黛瓦，字体纤细，大量留白。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3182112"/>
            <a:ext cx="97840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194560" y="3182112"/>
            <a:ext cx="73152" cy="1417320"/>
          </a:xfrm>
          <a:prstGeom prst="rect">
            <a:avLst/>
          </a:prstGeom>
          <a:solidFill>
            <a:srgbClr val="5C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33192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1A17"/>
                </a:solidFill>
                <a:latin typeface="PingFang SC"/>
              </a:rPr>
              <a:t>上海博物馆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3685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857E"/>
                </a:solidFill>
                <a:latin typeface="PingFang SC"/>
              </a:rPr>
              <a:t>Shanghai · Bronze Culture</a:t>
            </a:r>
          </a:p>
        </p:txBody>
      </p:sp>
      <p:sp>
        <p:nvSpPr>
          <p:cNvPr id="38" name="Oval 37"/>
          <p:cNvSpPr/>
          <p:nvPr/>
        </p:nvSpPr>
        <p:spPr>
          <a:xfrm>
            <a:off x="2377440" y="4050792"/>
            <a:ext cx="201168" cy="201168"/>
          </a:xfrm>
          <a:prstGeom prst="ellipse">
            <a:avLst/>
          </a:prstGeom>
          <a:solidFill>
            <a:srgbClr val="5C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633472" y="4050792"/>
            <a:ext cx="201168" cy="201168"/>
          </a:xfrm>
          <a:prstGeom prst="ellipse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889504" y="4050792"/>
            <a:ext cx="201168" cy="201168"/>
          </a:xfrm>
          <a:prstGeom prst="ellipse">
            <a:avLst/>
          </a:prstGeom>
          <a:solidFill>
            <a:srgbClr val="B08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45536" y="4050792"/>
            <a:ext cx="201168" cy="201168"/>
          </a:xfrm>
          <a:prstGeom prst="ellipse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3319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612A"/>
                </a:solidFill>
                <a:latin typeface="PingFang SC"/>
              </a:rPr>
              <a:t>青铜纹饰 · 棕金体系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3639312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857E"/>
                </a:solidFill>
                <a:latin typeface="PingFang SC"/>
              </a:rPr>
              <a:t>以青铜器轮廓为视觉标识原型，提取饕餮纹、云雷纹再设计；
铜绿色与暖棕色形成稳重历史感，兼顾现代简洁性。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94560" y="4690872"/>
            <a:ext cx="97840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194560" y="4690872"/>
            <a:ext cx="73152" cy="1417320"/>
          </a:xfrm>
          <a:prstGeom prst="rect">
            <a:avLst/>
          </a:prstGeom>
          <a:solidFill>
            <a:srgbClr val="5B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77440" y="48280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1A17"/>
                </a:solidFill>
                <a:latin typeface="PingFang SC"/>
              </a:rPr>
              <a:t>良渚博物院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77440" y="51937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857E"/>
                </a:solidFill>
                <a:latin typeface="PingFang SC"/>
              </a:rPr>
              <a:t>Hangzhou · Jade Culture</a:t>
            </a:r>
          </a:p>
        </p:txBody>
      </p:sp>
      <p:sp>
        <p:nvSpPr>
          <p:cNvPr id="48" name="Oval 47"/>
          <p:cNvSpPr/>
          <p:nvPr/>
        </p:nvSpPr>
        <p:spPr>
          <a:xfrm>
            <a:off x="2377440" y="5559552"/>
            <a:ext cx="201168" cy="201168"/>
          </a:xfrm>
          <a:prstGeom prst="ellipse">
            <a:avLst/>
          </a:prstGeom>
          <a:solidFill>
            <a:srgbClr val="5B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633472" y="5559552"/>
            <a:ext cx="201168" cy="201168"/>
          </a:xfrm>
          <a:prstGeom prst="ellipse">
            <a:avLst/>
          </a:prstGeom>
          <a:solidFill>
            <a:srgbClr val="8FA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889504" y="5559552"/>
            <a:ext cx="201168" cy="201168"/>
          </a:xfrm>
          <a:prstGeom prst="ellipse">
            <a:avLst/>
          </a:prstGeom>
          <a:solidFill>
            <a:srgbClr val="C4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145536" y="5559552"/>
            <a:ext cx="201168" cy="201168"/>
          </a:xfrm>
          <a:prstGeom prst="ellipse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0" y="4828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612A"/>
                </a:solidFill>
                <a:latin typeface="PingFang SC"/>
              </a:rPr>
              <a:t>玉琮形态 · 青绿玉色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5148072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857E"/>
                </a:solidFill>
                <a:latin typeface="PingFang SC"/>
              </a:rPr>
              <a:t>从玉琮（方圆组合）提炼核心图形语言，象征天地融合；
玉绿色系传递史前文明的神秘与沉静，字体轻盈现代。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0" cy="6858000"/>
          </a:xfrm>
          <a:prstGeom prst="rect">
            <a:avLst/>
          </a:prstGeom>
          <a:solidFill>
            <a:srgbClr val="C46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164592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PingFang SC"/>
              </a:rPr>
              <a:t>导视与
博物馆主题
的联系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AA"/>
                </a:solidFill>
                <a:latin typeface="PingFang SC"/>
              </a:rPr>
              <a:t>Theme · Connection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3891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AA"/>
                </a:solidFill>
                <a:latin typeface="PingFang SC"/>
              </a:rPr>
              <a:t>博物馆的文化属性
决定导视的
色彩、纹样与材质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57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57E"/>
                </a:solidFill>
                <a:latin typeface="PingFang SC"/>
              </a:rPr>
              <a:t>馆藏类型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457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57E"/>
                </a:solidFill>
                <a:latin typeface="PingFang SC"/>
              </a:rPr>
              <a:t>色彩语言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57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57E"/>
                </a:solidFill>
                <a:latin typeface="PingFang SC"/>
              </a:rPr>
              <a:t>图形/形式语言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457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57E"/>
                </a:solidFill>
                <a:latin typeface="PingFang SC"/>
              </a:rPr>
              <a:t>代表案例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822960"/>
            <a:ext cx="9235440" cy="19050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0058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A17"/>
                </a:solidFill>
                <a:latin typeface="PingFang SC"/>
              </a:rPr>
              <a:t>遗址考古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0" y="1051560"/>
            <a:ext cx="246888" cy="246888"/>
          </a:xfrm>
          <a:prstGeom prst="ellipse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25696" y="1051560"/>
            <a:ext cx="246888" cy="246888"/>
          </a:xfrm>
          <a:prstGeom prst="ellipse">
            <a:avLst/>
          </a:prstGeom>
          <a:solidFill>
            <a:srgbClr val="6B8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36592" y="1051560"/>
            <a:ext cx="246888" cy="246888"/>
          </a:xfrm>
          <a:prstGeom prst="ellipse">
            <a:avLst/>
          </a:prstGeom>
          <a:solidFill>
            <a:srgbClr val="8B7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005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857E"/>
                </a:solidFill>
                <a:latin typeface="PingFang SC"/>
              </a:rPr>
              <a:t>土层纹理·考古断面
地层线条·出土器型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005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8A25"/>
                </a:solidFill>
                <a:latin typeface="PingFang SC"/>
              </a:rPr>
              <a:t>秦始皇帝陵博物院
金沙遗址博物馆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1664208"/>
            <a:ext cx="9235440" cy="10160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20574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A17"/>
                </a:solidFill>
                <a:latin typeface="PingFang SC"/>
              </a:rPr>
              <a:t>宫廷历史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0" y="2103120"/>
            <a:ext cx="246888" cy="246888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25696" y="2103120"/>
            <a:ext cx="246888" cy="246888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36592" y="2103120"/>
            <a:ext cx="246888" cy="246888"/>
          </a:xfrm>
          <a:prstGeom prst="ellipse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0574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857E"/>
                </a:solidFill>
                <a:latin typeface="PingFang SC"/>
              </a:rPr>
              <a:t>云纹·龙凤·回纹
铜质鎏金·宫廷礼仪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057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8A25"/>
                </a:solidFill>
                <a:latin typeface="PingFang SC"/>
              </a:rPr>
              <a:t>故宫博物院
沈阳故宫博物院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2715768"/>
            <a:ext cx="9235440" cy="10160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3108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A17"/>
                </a:solidFill>
                <a:latin typeface="PingFang SC"/>
              </a:rPr>
              <a:t>自然科技</a:t>
            </a:r>
          </a:p>
        </p:txBody>
      </p:sp>
      <p:sp>
        <p:nvSpPr>
          <p:cNvPr id="27" name="Oval 26"/>
          <p:cNvSpPr/>
          <p:nvPr/>
        </p:nvSpPr>
        <p:spPr>
          <a:xfrm>
            <a:off x="4114800" y="3154680"/>
            <a:ext cx="246888" cy="246888"/>
          </a:xfrm>
          <a:prstGeom prst="ellipse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25696" y="3154680"/>
            <a:ext cx="246888" cy="246888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36592" y="3154680"/>
            <a:ext cx="246888" cy="246888"/>
          </a:xfrm>
          <a:prstGeom prst="ellips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1089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857E"/>
                </a:solidFill>
                <a:latin typeface="PingFang SC"/>
              </a:rPr>
              <a:t>有机曲线·数据可视化
网格系统·生物形态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108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8A25"/>
                </a:solidFill>
                <a:latin typeface="PingFang SC"/>
              </a:rPr>
              <a:t>中国科学技术馆
自然博物馆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3767328"/>
            <a:ext cx="9235440" cy="10160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41605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A17"/>
                </a:solidFill>
                <a:latin typeface="PingFang SC"/>
              </a:rPr>
              <a:t>艺术当代</a:t>
            </a:r>
          </a:p>
        </p:txBody>
      </p:sp>
      <p:sp>
        <p:nvSpPr>
          <p:cNvPr id="34" name="Oval 33"/>
          <p:cNvSpPr/>
          <p:nvPr/>
        </p:nvSpPr>
        <p:spPr>
          <a:xfrm>
            <a:off x="4114800" y="4206240"/>
            <a:ext cx="246888" cy="246888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425696" y="4206240"/>
            <a:ext cx="246888" cy="246888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736592" y="4206240"/>
            <a:ext cx="246888" cy="246888"/>
          </a:xfrm>
          <a:prstGeom prst="ellipse">
            <a:avLst/>
          </a:prstGeom>
          <a:solidFill>
            <a:srgbClr val="E8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41605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857E"/>
                </a:solidFill>
                <a:latin typeface="PingFang SC"/>
              </a:rPr>
              <a:t>极简几何·无衬线字体
大留白·高纯度点缀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41605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8A25"/>
                </a:solidFill>
                <a:latin typeface="PingFang SC"/>
              </a:rPr>
              <a:t>中国美术馆
苏州博物馆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4818888"/>
            <a:ext cx="9235440" cy="10160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0" y="52120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4612A"/>
                </a:solidFill>
                <a:latin typeface="PingFang SC"/>
              </a:rPr>
              <a:t>陶瓷工艺</a:t>
            </a:r>
          </a:p>
        </p:txBody>
      </p:sp>
      <p:sp>
        <p:nvSpPr>
          <p:cNvPr id="41" name="Oval 40"/>
          <p:cNvSpPr/>
          <p:nvPr/>
        </p:nvSpPr>
        <p:spPr>
          <a:xfrm>
            <a:off x="4114800" y="5257800"/>
            <a:ext cx="246888" cy="246888"/>
          </a:xfrm>
          <a:prstGeom prst="ellipse">
            <a:avLst/>
          </a:prstGeom>
          <a:solidFill>
            <a:srgbClr val="C46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425696" y="5257800"/>
            <a:ext cx="246888" cy="246888"/>
          </a:xfrm>
          <a:prstGeom prst="ellipse">
            <a:avLst/>
          </a:prstGeom>
          <a:solidFill>
            <a:srgbClr val="6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736592" y="5257800"/>
            <a:ext cx="246888" cy="246888"/>
          </a:xfrm>
          <a:prstGeom prst="ellipse">
            <a:avLst/>
          </a:prstGeom>
          <a:solidFill>
            <a:srgbClr val="B08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52120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4612A"/>
                </a:solidFill>
                <a:latin typeface="PingFang SC"/>
              </a:rPr>
              <a:t>器型轮廓·纹样提取
窑变色彩·手工质感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5212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612A"/>
                </a:solidFill>
                <a:latin typeface="PingFang SC"/>
              </a:rPr>
              <a:t>景德镇陶瓷博物馆
▶ 你的陶瓷体验馆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88952" cy="12700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612A"/>
                </a:solidFill>
                <a:latin typeface="PingFang SC"/>
              </a:rPr>
              <a:t>WAYFINDING ·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1E1A17"/>
                </a:solidFill>
                <a:latin typeface="PingFang SC"/>
              </a:rPr>
              <a:t>导视系统的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6858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E1A17"/>
                </a:solidFill>
                <a:latin typeface="PingFang SC"/>
              </a:rPr>
              <a:t>作用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16459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8D3CC"/>
                </a:solidFill>
                <a:latin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1A17"/>
                </a:solidFill>
                <a:latin typeface="PingFang SC"/>
              </a:rPr>
              <a:t>空间定向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20040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57E"/>
                </a:solidFill>
                <a:latin typeface="PingFang SC"/>
              </a:rPr>
              <a:t>帮助访客在陌生空间中快速建立方位感，明确[我在哪里/我要去哪里]，降低迷失感与焦虑。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86584" y="1463040"/>
            <a:ext cx="9144" cy="2540000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86584" y="1463040"/>
            <a:ext cx="12700" cy="5394960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4328" y="16459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8D3CC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1A17"/>
                </a:solidFill>
                <a:latin typeface="PingFang SC"/>
              </a:rPr>
              <a:t>信息传递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320040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57E"/>
                </a:solidFill>
                <a:latin typeface="PingFang SC"/>
              </a:rPr>
              <a:t>传达展览内容、开放时间、服务设施等实用信息，是文字说明与图形符号的综合信息界面。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8304" y="1463040"/>
            <a:ext cx="9144" cy="2540000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18304" y="1463040"/>
            <a:ext cx="12700" cy="5394960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6048" y="16459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8D3CC"/>
                </a:solidFill>
                <a:latin typeface="PingFang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1A17"/>
                </a:solidFill>
                <a:latin typeface="PingFang SC"/>
              </a:rPr>
              <a:t>品牌塑造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320040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57E"/>
                </a:solidFill>
                <a:latin typeface="PingFang SC"/>
              </a:rPr>
              <a:t>导视系统是机构视觉形象的物理延伸，通过统一的色彩、字体、材质强化文化品牌认知。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024" y="1463040"/>
            <a:ext cx="9144" cy="2540000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50024" y="1463040"/>
            <a:ext cx="12700" cy="5394960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7768" y="16459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8D3CC"/>
                </a:solidFill>
                <a:latin typeface="PingFang S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7768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1A17"/>
                </a:solidFill>
                <a:latin typeface="PingFang SC"/>
              </a:rPr>
              <a:t>情绪引导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7768" y="320040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57E"/>
                </a:solidFill>
                <a:latin typeface="PingFang SC"/>
              </a:rPr>
              <a:t>通过色调、材质与空间节奏，在参观动线上营造期待、沉浸、惊喜等情绪序列。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81744" y="1463040"/>
            <a:ext cx="9144" cy="2540000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81744" y="1463040"/>
            <a:ext cx="12700" cy="5394960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19488" y="16459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8D3CC"/>
                </a:solidFill>
                <a:latin typeface="PingFang SC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9488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1A17"/>
                </a:solidFill>
                <a:latin typeface="PingFang SC"/>
              </a:rPr>
              <a:t>安全疏导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9488" y="320040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57E"/>
                </a:solidFill>
                <a:latin typeface="PingFang SC"/>
              </a:rPr>
              <a:t>规范标注安全出口、紧急集合点、消防设施，确保紧急情况下人员安全疏散。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10972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PingFang SC"/>
              </a:rPr>
              <a:t>好的导视，
让访客感觉
不到它的存在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2396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9890"/>
                </a:solidFill>
                <a:latin typeface="PingFang SC"/>
              </a:rPr>
              <a:t>— 不喧宾夺主，与展品相辅相成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23960" y="4096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9890"/>
                </a:solidFill>
                <a:latin typeface="PingFang SC"/>
              </a:rPr>
              <a:t>— 第一次来的人能自然找到路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45354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9890"/>
                </a:solidFill>
                <a:latin typeface="PingFang SC"/>
              </a:rPr>
              <a:t>— 紧急情况下指引清晰无歧义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49743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9890"/>
                </a:solidFill>
                <a:latin typeface="PingFang SC"/>
              </a:rPr>
              <a:t>— 承载文化身份，值得被拍照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5413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9890"/>
                </a:solidFill>
                <a:latin typeface="PingFang SC"/>
              </a:rPr>
              <a:t>— 五年后仍与整体环境协调一致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612A"/>
                </a:solidFill>
                <a:latin typeface="PingFang SC"/>
              </a:rPr>
              <a:t>DESIGN CONSIDERATIONS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22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E1A17"/>
                </a:solidFill>
                <a:latin typeface="PingFang SC"/>
              </a:rPr>
              <a:t>导视系统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822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E1A17"/>
                </a:solidFill>
                <a:latin typeface="PingFang SC"/>
              </a:rPr>
              <a:t>注意事项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691640"/>
            <a:ext cx="3749039" cy="1417320"/>
          </a:xfrm>
          <a:prstGeom prst="rect">
            <a:avLst/>
          </a:prstGeom>
          <a:noFill/>
          <a:ln w="10160">
            <a:solidFill>
              <a:srgbClr val="D8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013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612A"/>
                </a:solidFill>
                <a:latin typeface="PingFang SC"/>
              </a:rPr>
              <a:t>01 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391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A17"/>
                </a:solidFill>
                <a:latin typeface="PingFang SC"/>
              </a:rPr>
              <a:t>视觉层级与可读性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77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主/副标题/说明三级层级清晰。中文正文不低于14px，关键信息对比度≥4.5:1（WCAG AA）。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691640"/>
            <a:ext cx="3749039" cy="1417320"/>
          </a:xfrm>
          <a:prstGeom prst="rect">
            <a:avLst/>
          </a:prstGeom>
          <a:noFill/>
          <a:ln w="10160">
            <a:solidFill>
              <a:srgbClr val="D8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18013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612A"/>
                </a:solidFill>
                <a:latin typeface="PingFang SC"/>
              </a:rPr>
              <a:t>02 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0391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A17"/>
                </a:solidFill>
                <a:latin typeface="PingFang SC"/>
              </a:rPr>
              <a:t>无障碍设计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377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考虑色盲用户（避免纯红绿区分）、视障人士（盲文铭牌）、轮椅视角（标牌高1.0–1.6m）。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383280"/>
            <a:ext cx="3749039" cy="1417320"/>
          </a:xfrm>
          <a:prstGeom prst="rect">
            <a:avLst/>
          </a:prstGeom>
          <a:noFill/>
          <a:ln w="10160">
            <a:solidFill>
              <a:srgbClr val="D8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930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612A"/>
                </a:solidFill>
                <a:latin typeface="PingFang SC"/>
              </a:rPr>
              <a:t>03 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307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A17"/>
                </a:solidFill>
                <a:latin typeface="PingFang SC"/>
              </a:rPr>
              <a:t>多语言与国际化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690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提供中英双语，注意英文版面更长，排版需预留弹性空间。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383280"/>
            <a:ext cx="3749039" cy="1417320"/>
          </a:xfrm>
          <a:prstGeom prst="rect">
            <a:avLst/>
          </a:prstGeom>
          <a:noFill/>
          <a:ln w="10160">
            <a:solidFill>
              <a:srgbClr val="D8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4930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612A"/>
                </a:solidFill>
                <a:latin typeface="PingFang SC"/>
              </a:rPr>
              <a:t>04 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7307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A17"/>
                </a:solidFill>
                <a:latin typeface="PingFang SC"/>
              </a:rPr>
              <a:t>材质与空间协调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0690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材质应与建筑对话。户外需防UV防腐；室内可选亚克力、铝板或木质材料。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5029200"/>
            <a:ext cx="3749039" cy="1417320"/>
          </a:xfrm>
          <a:prstGeom prst="rect">
            <a:avLst/>
          </a:prstGeom>
          <a:noFill/>
          <a:ln w="10160">
            <a:solidFill>
              <a:srgbClr val="D8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1389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612A"/>
                </a:solidFill>
                <a:latin typeface="PingFang SC"/>
              </a:rPr>
              <a:t>05 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76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A17"/>
                </a:solidFill>
                <a:latin typeface="PingFang SC"/>
              </a:rPr>
              <a:t>系统一致性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全馆遵循统一设计规范（色值、字体、图标、尺寸），避免各楼层各自为政。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5029200"/>
            <a:ext cx="3749039" cy="1417320"/>
          </a:xfrm>
          <a:prstGeom prst="rect">
            <a:avLst/>
          </a:prstGeom>
          <a:noFill/>
          <a:ln w="10160">
            <a:solidFill>
              <a:srgbClr val="D8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51389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612A"/>
                </a:solidFill>
                <a:latin typeface="PingFang SC"/>
              </a:rPr>
              <a:t>06 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5376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A17"/>
                </a:solidFill>
                <a:latin typeface="PingFang SC"/>
              </a:rPr>
              <a:t>更新与维护弹性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57150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展览定期更换，标识系统需支持局部更新，避免每次改展都全面重制。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12700"/>
          </a:xfrm>
          <a:prstGeom prst="rect">
            <a:avLst/>
          </a:prstGeom>
          <a:solidFill>
            <a:srgbClr val="D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612A"/>
                </a:solidFill>
                <a:latin typeface="PingFang SC"/>
              </a:rPr>
              <a:t>FIELD RESEARCH · XI'AN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1E1A17"/>
                </a:solidFill>
                <a:latin typeface="PingFang SC"/>
              </a:rPr>
              <a:t>西安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5029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4612A"/>
                </a:solidFill>
                <a:latin typeface="PingFang SC"/>
              </a:rPr>
              <a:t>实地考察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57E"/>
                </a:solidFill>
                <a:latin typeface="PingFang SC"/>
              </a:rPr>
              <a:t>6处文化机构 · 导视系统观察记录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" y="1261872"/>
            <a:ext cx="3931920" cy="2633472"/>
          </a:xfrm>
          <a:prstGeom prst="rect">
            <a:avLst/>
          </a:prstGeom>
          <a:noFill/>
          <a:ln w="10160">
            <a:solidFill>
              <a:srgbClr val="D8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" y="1399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8D3CC"/>
                </a:solidFill>
                <a:latin typeface="PingFang SC"/>
              </a:rPr>
              <a:t>01</a:t>
            </a:r>
          </a:p>
        </p:txBody>
      </p:sp>
      <p:sp>
        <p:nvSpPr>
          <p:cNvPr id="10" name="Oval 9"/>
          <p:cNvSpPr/>
          <p:nvPr/>
        </p:nvSpPr>
        <p:spPr>
          <a:xfrm>
            <a:off x="3483864" y="1463040"/>
            <a:ext cx="256032" cy="256032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" y="188366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1A17"/>
                </a:solidFill>
                <a:latin typeface="PingFang SC"/>
              </a:rPr>
              <a:t>陕西历史博物馆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" y="22677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57E"/>
                </a:solidFill>
                <a:latin typeface="PingFang SC"/>
              </a:rPr>
              <a:t>综合历史 · 唐风建筑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" y="2587752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— 暖土黄+金属金，呼应唐代宫廷气韵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" y="2926080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— 楼层索引牌融入唐草纹装饰边框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" y="3264408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— 户外立式导览牌采用仿唐碑形制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78224" y="1261872"/>
            <a:ext cx="3931920" cy="2633472"/>
          </a:xfrm>
          <a:prstGeom prst="rect">
            <a:avLst/>
          </a:prstGeom>
          <a:noFill/>
          <a:ln w="10160">
            <a:solidFill>
              <a:srgbClr val="D8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1104" y="1399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8D3CC"/>
                </a:solidFill>
                <a:latin typeface="PingFang SC"/>
              </a:rPr>
              <a:t>02</a:t>
            </a:r>
          </a:p>
        </p:txBody>
      </p:sp>
      <p:sp>
        <p:nvSpPr>
          <p:cNvPr id="18" name="Oval 17"/>
          <p:cNvSpPr/>
          <p:nvPr/>
        </p:nvSpPr>
        <p:spPr>
          <a:xfrm>
            <a:off x="7507224" y="1463040"/>
            <a:ext cx="256032" cy="256032"/>
          </a:xfrm>
          <a:prstGeom prst="ellipse">
            <a:avLst/>
          </a:prstGeom>
          <a:solidFill>
            <a:srgbClr val="7B4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61104" y="188366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1A17"/>
                </a:solidFill>
                <a:latin typeface="PingFang SC"/>
              </a:rPr>
              <a:t>秦始皇帝陵博物院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1104" y="22677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57E"/>
                </a:solidFill>
                <a:latin typeface="PingFang SC"/>
              </a:rPr>
              <a:t>遗址考古 · 室外为主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1104" y="2587752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— 赭石+铜绿，呼应兵马俑本体色调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1104" y="2926080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— 大尺寸图形标识适配户外宽阔空间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1104" y="3264408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— 兵马俑剪影作为主要图形元素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1584" y="1261872"/>
            <a:ext cx="3931920" cy="2633472"/>
          </a:xfrm>
          <a:prstGeom prst="rect">
            <a:avLst/>
          </a:prstGeom>
          <a:noFill/>
          <a:ln w="10160">
            <a:solidFill>
              <a:srgbClr val="D8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4" y="1399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8D3CC"/>
                </a:solidFill>
                <a:latin typeface="PingFang SC"/>
              </a:rPr>
              <a:t>03</a:t>
            </a:r>
          </a:p>
        </p:txBody>
      </p:sp>
      <p:sp>
        <p:nvSpPr>
          <p:cNvPr id="26" name="Oval 25"/>
          <p:cNvSpPr/>
          <p:nvPr/>
        </p:nvSpPr>
        <p:spPr>
          <a:xfrm>
            <a:off x="11530584" y="1463040"/>
            <a:ext cx="256032" cy="256032"/>
          </a:xfrm>
          <a:prstGeom prst="ellipse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4" y="188366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1A17"/>
                </a:solidFill>
                <a:latin typeface="PingFang SC"/>
              </a:rPr>
              <a:t>西安博物院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22677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57E"/>
                </a:solidFill>
                <a:latin typeface="PingFang SC"/>
              </a:rPr>
              <a:t>城市历史 · 小雁塔景区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2587752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— 小雁塔轮廓作为标识原型图形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2926080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— 现代简约风，中性石灰色为主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3264408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— 室内外导视系统风格统一度高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" y="3986784"/>
            <a:ext cx="3931920" cy="2633472"/>
          </a:xfrm>
          <a:prstGeom prst="rect">
            <a:avLst/>
          </a:prstGeom>
          <a:noFill/>
          <a:ln w="10160">
            <a:solidFill>
              <a:srgbClr val="D8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4" y="412394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8D3CC"/>
                </a:solidFill>
                <a:latin typeface="PingFang SC"/>
              </a:rPr>
              <a:t>04</a:t>
            </a:r>
          </a:p>
        </p:txBody>
      </p:sp>
      <p:sp>
        <p:nvSpPr>
          <p:cNvPr id="34" name="Oval 33"/>
          <p:cNvSpPr/>
          <p:nvPr/>
        </p:nvSpPr>
        <p:spPr>
          <a:xfrm>
            <a:off x="3483864" y="4187952"/>
            <a:ext cx="256032" cy="256032"/>
          </a:xfrm>
          <a:prstGeom prst="ellipse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" y="460857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1A17"/>
                </a:solidFill>
                <a:latin typeface="PingFang SC"/>
              </a:rPr>
              <a:t>碑林博物馆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" y="49926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57E"/>
                </a:solidFill>
                <a:latin typeface="PingFang SC"/>
              </a:rPr>
              <a:t>书法碑刻 · 文字文化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" y="5312664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— 以石刻拓印质感为背景纹理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" y="5650992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— 字体选用隶书与楷书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" y="5989320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— 墨黑+石灰色调，沉静典雅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78224" y="3986784"/>
            <a:ext cx="3931920" cy="2633472"/>
          </a:xfrm>
          <a:prstGeom prst="rect">
            <a:avLst/>
          </a:prstGeom>
          <a:noFill/>
          <a:ln w="10160">
            <a:solidFill>
              <a:srgbClr val="D8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4" y="412394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8D3CC"/>
                </a:solidFill>
                <a:latin typeface="PingFang SC"/>
              </a:rPr>
              <a:t>05</a:t>
            </a:r>
          </a:p>
        </p:txBody>
      </p:sp>
      <p:sp>
        <p:nvSpPr>
          <p:cNvPr id="42" name="Oval 41"/>
          <p:cNvSpPr/>
          <p:nvPr/>
        </p:nvSpPr>
        <p:spPr>
          <a:xfrm>
            <a:off x="7507224" y="4187952"/>
            <a:ext cx="256032" cy="256032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4" y="460857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1A17"/>
                </a:solidFill>
                <a:latin typeface="PingFang SC"/>
              </a:rPr>
              <a:t>西安市图书馆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61104" y="49926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57E"/>
                </a:solidFill>
                <a:latin typeface="PingFang SC"/>
              </a:rPr>
              <a:t>公共图书馆 · 功能导向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61104" y="5312664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— 色彩编码系统：不同阅览区用色区分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61104" y="5650992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— 功能性优先，导视清晰直接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61104" y="5989320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— 文化属性体现不足，风格较通用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01584" y="3986784"/>
            <a:ext cx="3931920" cy="2633472"/>
          </a:xfrm>
          <a:prstGeom prst="rect">
            <a:avLst/>
          </a:prstGeom>
          <a:noFill/>
          <a:ln w="10160">
            <a:solidFill>
              <a:srgbClr val="D8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84464" y="412394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8D3CC"/>
                </a:solidFill>
                <a:latin typeface="PingFang SC"/>
              </a:rPr>
              <a:t>06</a:t>
            </a:r>
          </a:p>
        </p:txBody>
      </p:sp>
      <p:sp>
        <p:nvSpPr>
          <p:cNvPr id="50" name="Oval 49"/>
          <p:cNvSpPr/>
          <p:nvPr/>
        </p:nvSpPr>
        <p:spPr>
          <a:xfrm>
            <a:off x="11530584" y="4187952"/>
            <a:ext cx="256032" cy="256032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84464" y="460857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1A17"/>
                </a:solidFill>
                <a:latin typeface="PingFang SC"/>
              </a:rPr>
              <a:t>西安非遗文化馆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4464" y="49926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57E"/>
                </a:solidFill>
                <a:latin typeface="PingFang SC"/>
              </a:rPr>
              <a:t>非物质文化遗产展示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84464" y="5312664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— 剪纸、皮影等民俗纹样入标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4464" y="5650992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— 色彩饱和度高，节日感浓郁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84464" y="5989320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— 互动导视（扫码查看制作视频）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4612A"/>
                </a:solidFill>
                <a:latin typeface="PingFang SC"/>
              </a:rPr>
              <a:t>CERAMIC MUSEUM ·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PingFang SC"/>
              </a:rPr>
              <a:t>陶瓷体验
博物馆
导视创新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PingFang SC"/>
              </a:rPr>
              <a:t>8个创新方向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926080"/>
            <a:ext cx="1645920" cy="2560320"/>
          </a:xfrm>
          <a:prstGeom prst="ellipse">
            <a:avLst/>
          </a:prstGeom>
          <a:solidFill>
            <a:srgbClr val="C46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834640"/>
            <a:ext cx="1371600" cy="457200"/>
          </a:xfrm>
          <a:prstGeom prst="ellipse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57E"/>
                </a:solidFill>
                <a:latin typeface="PingFang SC"/>
              </a:rPr>
              <a:t>8 Innovation
Directions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685800"/>
            <a:ext cx="2743200" cy="283464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7832" y="8503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612A"/>
                </a:solidFill>
                <a:latin typeface="PingFang SC"/>
              </a:rPr>
              <a:t>01 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116128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A17"/>
                </a:solidFill>
                <a:latin typeface="PingFang SC"/>
              </a:rPr>
              <a:t>纹样提取再设计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16916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从馆藏陶瓷（彩陶鱼纹、唐三彩花卉）提取图形，重新设计为导视图标系统。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685800"/>
            <a:ext cx="2743200" cy="283464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8503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612A"/>
                </a:solidFill>
                <a:latin typeface="PingFang SC"/>
              </a:rPr>
              <a:t>02 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116128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A17"/>
                </a:solidFill>
                <a:latin typeface="PingFang SC"/>
              </a:rPr>
              <a:t>陶轮同心圆方向系统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16916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以陶轮旋转的同心圆为核心图形，通过圆弧断点位置暗示路径方向。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685800"/>
            <a:ext cx="2743200" cy="283464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9992" y="8503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612A"/>
                </a:solidFill>
                <a:latin typeface="PingFang SC"/>
              </a:rPr>
              <a:t>03 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116128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A17"/>
                </a:solidFill>
                <a:latin typeface="PingFang SC"/>
              </a:rPr>
              <a:t>窑变色彩分区编码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16916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将窑变釉色（天青、火红、铁锈棕、蜜黄）作为各功能区的专属色彩标识。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41480" y="685800"/>
            <a:ext cx="2743200" cy="283464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06072" y="8503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612A"/>
                </a:solidFill>
                <a:latin typeface="PingFang SC"/>
              </a:rPr>
              <a:t>04 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06072" y="116128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A17"/>
                </a:solidFill>
                <a:latin typeface="PingFang SC"/>
              </a:rPr>
              <a:t>制作体验流程导视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06072" y="16916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将取土→揉泥→拉坯→修坯→上釉→入窑的工序设计为叙事性导视动线。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3749039"/>
            <a:ext cx="2743200" cy="283464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27832" y="391363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612A"/>
                </a:solidFill>
                <a:latin typeface="PingFang SC"/>
              </a:rPr>
              <a:t>05 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27832" y="4224527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A17"/>
                </a:solidFill>
                <a:latin typeface="PingFang SC"/>
              </a:rPr>
              <a:t>手印 · 指纹标识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27832" y="4754879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以陶艺师手印为视觉原点，提炼指纹线条作为品牌图形，强调手作温度。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3749039"/>
            <a:ext cx="2743200" cy="283464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53912" y="391363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612A"/>
                </a:solidFill>
                <a:latin typeface="PingFang SC"/>
              </a:rPr>
              <a:t>06 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4224527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A17"/>
                </a:solidFill>
                <a:latin typeface="PingFang SC"/>
              </a:rPr>
              <a:t>陶瓷断面美学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53912" y="4754879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将陶器断面（胎土、化妆土、釉层）视觉化，形成独特分层纹理图形。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15400" y="3749039"/>
            <a:ext cx="2743200" cy="283464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79992" y="391363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612A"/>
                </a:solidFill>
                <a:latin typeface="PingFang SC"/>
              </a:rPr>
              <a:t>07 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9992" y="4224527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A17"/>
                </a:solidFill>
                <a:latin typeface="PingFang SC"/>
              </a:rPr>
              <a:t>开片裂纹装饰语言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9992" y="4754879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哥窑冰裂纹提炼为导视底纹与边框装饰，将缺陷美转化为辨识度符号。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841480" y="3749039"/>
            <a:ext cx="2743200" cy="283464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006072" y="391363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612A"/>
                </a:solidFill>
                <a:latin typeface="PingFang SC"/>
              </a:rPr>
              <a:t>08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006072" y="4224527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A17"/>
                </a:solidFill>
                <a:latin typeface="PingFang SC"/>
              </a:rPr>
              <a:t>数字互动导视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006072" y="4754879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57E"/>
                </a:solidFill>
                <a:latin typeface="PingFang SC"/>
              </a:rPr>
              <a:t>实体标牌嵌入NFC/AR码，扫码可查看制作视频、历史溯源与展品3D模型。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